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411"/>
  </p:normalViewPr>
  <p:slideViewPr>
    <p:cSldViewPr snapToGrid="0" snapToObjects="1">
      <p:cViewPr>
        <p:scale>
          <a:sx n="123" d="100"/>
          <a:sy n="123" d="100"/>
        </p:scale>
        <p:origin x="344" y="-7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1530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 (30s). Welcome the judges, introduce each member by name and what they built — one sentence each. Then the hook: every sunny morning Vietnam curtails rooftop solar; every evening its new electric motorbikes charge on coal. FirmGrid closes both loops — and everything you'll see runs live on this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 (30s). Three figures: 19 GW of solar that gets cut feeder-wide; 450k motorbikes electrifying into the evening peak; data-centre demand doubling with a green mandate. Root cause in one line: the operator is blind, so the cut is blunt — it's an intelligence gap, not a hardware gap. And the surplus cap just doubled a week before this pitch: more pressure, still no allocator.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IMPACT (30s). Supply side: 15-19 GWh a year recovered across Hanoi's constrained transformers — 10-13 kt of CO2. Mobility side: another 16-27 kt by steering the LEZ charging wave into the solar window — one kilogram per swap, printed on the rider's receipt. Households earn real money from energy that's discarded today; EVN defers copper. And at Tier 2, the clean block undercuts the grid tariff.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PRODUCT (60s). One sentence: </a:t>
            </a:r>
            <a:r>
              <a:rPr dirty="0" err="1"/>
              <a:t>FirmGrid</a:t>
            </a:r>
            <a:r>
              <a:rPr dirty="0"/>
              <a:t> doesn't fight the single-buyer system, it makes it intelligent. Three features only: </a:t>
            </a:r>
            <a:r>
              <a:rPr dirty="0" err="1"/>
              <a:t>GridMind</a:t>
            </a:r>
            <a:r>
              <a:rPr dirty="0"/>
              <a:t> predicts, the auction allocates fairly, </a:t>
            </a:r>
            <a:r>
              <a:rPr dirty="0" err="1"/>
              <a:t>FlexMatch</a:t>
            </a:r>
            <a:r>
              <a:rPr dirty="0"/>
              <a:t> steers mobility charging into the sun. Settlement is verified, VND-only, hash-chain audited — no crypto. And the same engine scales to Tier 2: firm hour-matched blocks for data </a:t>
            </a:r>
            <a:r>
              <a:rPr dirty="0" err="1"/>
              <a:t>centres</a:t>
            </a:r>
            <a:r>
              <a:rPr dirty="0"/>
              <a:t>. If nuclear lands on time we built the flexible grid it needs; if it slips, we're why the lights stayed clean.</a:t>
            </a:r>
            <a:r>
              <a:rPr lang="en-US" dirty="0"/>
              <a:t> We scale as the grid scales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(120s — switch to the app, keep this slide as backup). Choreography: 1) Neighbourhood Live map, scrub to noon — baseline side turns red (feeder-wide cut), FirmGrid side stays green, stations visibly swell. 2) Tab 1 counters: 703 kWh wasted becomes 20 — 97% recovered, zero breaches, 791k dong paid. 3) Hand a judge the mouse: storm slider, then the fraud bid — Sentinel blocks it and seals the event in the hash-chained ledger. Close with: the weather is real — twelve months of Hanoi data ending last week. The pipeline strip above is the mechanism: sense, bid, clear, settle — every 15 minutes, never above 90% of forecast headroom, human override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NOW (20s). Four dates: the LEZ went live this week; the surplus cap doubled last week; the localisation law is pulling data centres onshore with a green mandate; and nothing firm arrives before 2030-35. The window is now — and every sunny day that passes, the wasted energy is gone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(30s). Re-emphasize three things: the impact number, the market fit — legal today, no new law, pilot path already mapped — and the USP: predict, allocate fairly, recruit mobility batteries. Land the one-liner: morning sunshine becomes the clean ride home tonight — and, at scale, firm 24/7 power for the digital economy. Invite questions; the prototype is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 dirty="0">
                <a:solidFill>
                  <a:srgbClr val="34D399"/>
                </a:solidFill>
                <a:latin typeface="Avenir Next"/>
              </a:rPr>
              <a:t>⚡ </a:t>
            </a:r>
            <a:r>
              <a:rPr sz="5200" b="1" dirty="0" err="1">
                <a:solidFill>
                  <a:srgbClr val="34D399"/>
                </a:solidFill>
                <a:latin typeface="Avenir Next"/>
              </a:rPr>
              <a:t>FirmGrid</a:t>
            </a:r>
            <a:endParaRPr sz="5200" b="1" dirty="0">
              <a:solidFill>
                <a:srgbClr val="34D399"/>
              </a:solidFill>
              <a:latin typeface="Avenir N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dirty="0">
                <a:solidFill>
                  <a:srgbClr val="E2E8F0"/>
                </a:solidFill>
                <a:latin typeface="Avenir Next"/>
              </a:rPr>
              <a:t>Vietnam throws away clean power at noon </a:t>
            </a:r>
            <a:r>
              <a:rPr lang="en-US" sz="2600" b="1" dirty="0">
                <a:solidFill>
                  <a:srgbClr val="E2E8F0"/>
                </a:solidFill>
                <a:latin typeface="Avenir Next"/>
              </a:rPr>
              <a:t>-</a:t>
            </a:r>
            <a:endParaRPr sz="2600" b="1" dirty="0">
              <a:solidFill>
                <a:srgbClr val="E2E8F0"/>
              </a:solidFill>
              <a:latin typeface="Avenir Next"/>
            </a:endParaRPr>
          </a:p>
          <a:p>
            <a:pPr algn="l">
              <a:spcAft>
                <a:spcPts val="600"/>
              </a:spcAft>
            </a:pPr>
            <a:r>
              <a:rPr sz="2600" b="1" dirty="0">
                <a:solidFill>
                  <a:srgbClr val="E2E8F0"/>
                </a:solidFill>
                <a:latin typeface="Avenir Next"/>
              </a:rPr>
              <a:t>and charges its clean vehicles on coal at night.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4D399"/>
                </a:solidFill>
                <a:latin typeface="Avenir Next"/>
              </a:rPr>
              <a:t>Sun-to-Wheels today. Sun-to-Servers next.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10642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300" b="0" dirty="0">
                <a:solidFill>
                  <a:srgbClr val="94A3B8"/>
                </a:solidFill>
                <a:latin typeface="Avenir Next"/>
              </a:rPr>
              <a:t>The Broke Three </a:t>
            </a:r>
            <a:r>
              <a:rPr sz="1300" b="0" dirty="0">
                <a:solidFill>
                  <a:srgbClr val="94A3B8"/>
                </a:solidFill>
                <a:latin typeface="Avenir Next"/>
              </a:rPr>
              <a:t>·  Asian Hackathon for Green Future 2026  ·  Track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1 / 7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99299EB-E57D-22AD-67FB-7D203D14760A}"/>
              </a:ext>
            </a:extLst>
          </p:cNvPr>
          <p:cNvSpPr/>
          <p:nvPr/>
        </p:nvSpPr>
        <p:spPr>
          <a:xfrm>
            <a:off x="548639" y="3931920"/>
            <a:ext cx="5098333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5A2B84-8E1A-1040-779E-C3DC4238C851}"/>
              </a:ext>
            </a:extLst>
          </p:cNvPr>
          <p:cNvSpPr txBox="1"/>
          <p:nvPr/>
        </p:nvSpPr>
        <p:spPr>
          <a:xfrm>
            <a:off x="685800" y="4114800"/>
            <a:ext cx="239572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E2E8F0"/>
                </a:solidFill>
                <a:latin typeface="Avenir Next"/>
              </a:rPr>
              <a:t>Nguyễn Hoàng Hiếu</a:t>
            </a:r>
            <a:endParaRPr sz="1600" b="1" dirty="0">
              <a:solidFill>
                <a:srgbClr val="E2E8F0"/>
              </a:solidFill>
              <a:latin typeface="Avenir Nex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05E14F-9C4A-8826-DCC0-534FCD408A2E}"/>
              </a:ext>
            </a:extLst>
          </p:cNvPr>
          <p:cNvSpPr txBox="1"/>
          <p:nvPr/>
        </p:nvSpPr>
        <p:spPr>
          <a:xfrm>
            <a:off x="685800" y="4709160"/>
            <a:ext cx="2395728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200" b="0">
                <a:solidFill>
                  <a:srgbClr val="94A3B8"/>
                </a:solidFill>
                <a:latin typeface="Avenir Next"/>
              </a:rPr>
              <a:t>Team lead / </a:t>
            </a:r>
            <a:r>
              <a:rPr sz="1200" b="0">
                <a:solidFill>
                  <a:srgbClr val="94A3B8"/>
                </a:solidFill>
                <a:latin typeface="Avenir Next"/>
              </a:rPr>
              <a:t>ML </a:t>
            </a:r>
            <a:r>
              <a:rPr sz="1200" b="0" dirty="0">
                <a:solidFill>
                  <a:srgbClr val="94A3B8"/>
                </a:solidFill>
                <a:latin typeface="Avenir Next"/>
              </a:rPr>
              <a:t>&amp; </a:t>
            </a:r>
            <a:r>
              <a:rPr lang="en-US" sz="1200" b="0" dirty="0">
                <a:solidFill>
                  <a:srgbClr val="94A3B8"/>
                </a:solidFill>
                <a:latin typeface="Avenir Next"/>
              </a:rPr>
              <a:t>Optimization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94A3B8"/>
                </a:solidFill>
                <a:latin typeface="Avenir Next"/>
              </a:rPr>
              <a:t>Product, UX &amp; policy</a:t>
            </a:r>
          </a:p>
          <a:p>
            <a:pPr algn="l">
              <a:spcAft>
                <a:spcPts val="600"/>
              </a:spcAft>
            </a:pPr>
            <a:endParaRPr sz="1200" b="0" dirty="0">
              <a:solidFill>
                <a:srgbClr val="94A3B8"/>
              </a:solidFill>
              <a:latin typeface="Avenir Next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C179D8A-AE6C-6471-A798-3AF8C702AB22}"/>
              </a:ext>
            </a:extLst>
          </p:cNvPr>
          <p:cNvSpPr/>
          <p:nvPr/>
        </p:nvSpPr>
        <p:spPr>
          <a:xfrm>
            <a:off x="6645349" y="3931920"/>
            <a:ext cx="454797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058A86-4F41-40A6-ECA0-50A92F896271}"/>
              </a:ext>
            </a:extLst>
          </p:cNvPr>
          <p:cNvSpPr txBox="1"/>
          <p:nvPr/>
        </p:nvSpPr>
        <p:spPr>
          <a:xfrm>
            <a:off x="6975446" y="4114800"/>
            <a:ext cx="408071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E2E8F0"/>
                </a:solidFill>
                <a:latin typeface="Avenir Next"/>
              </a:rPr>
              <a:t>Nguyễn Quốc Đăng</a:t>
            </a:r>
            <a:endParaRPr sz="1600" b="1" dirty="0">
              <a:solidFill>
                <a:srgbClr val="E2E8F0"/>
              </a:solidFill>
              <a:latin typeface="Avenir Nex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F32DCB-B7F4-D152-4EA7-7B10FFAE8C41}"/>
              </a:ext>
            </a:extLst>
          </p:cNvPr>
          <p:cNvSpPr txBox="1"/>
          <p:nvPr/>
        </p:nvSpPr>
        <p:spPr>
          <a:xfrm>
            <a:off x="6975446" y="4709160"/>
            <a:ext cx="4080713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94A3B8"/>
                </a:solidFill>
                <a:latin typeface="Avenir Next"/>
              </a:rPr>
              <a:t>Power systems &amp; digital twin</a:t>
            </a:r>
            <a:endParaRPr lang="en-US" sz="1200" b="0" dirty="0">
              <a:solidFill>
                <a:srgbClr val="94A3B8"/>
              </a:solidFill>
              <a:latin typeface="Avenir Next"/>
            </a:endParaRP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94A3B8"/>
                </a:solidFill>
                <a:latin typeface="Avenir Next"/>
              </a:rPr>
              <a:t>Backend &amp; settlement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PROBLEM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2E8F0"/>
                </a:solidFill>
                <a:latin typeface="Avenir Next"/>
              </a:rPr>
              <a:t>Wasted at noon. Coal at night. And 2026 makes it worse.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92808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BBF24"/>
                </a:solidFill>
                <a:latin typeface="Avenir Next"/>
              </a:rPr>
              <a:t>~19 GW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33472"/>
            <a:ext cx="3264408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94A3B8"/>
                </a:solidFill>
                <a:latin typeface="Avenir Next"/>
              </a:rPr>
              <a:t>of solar already built </a:t>
            </a:r>
            <a:r>
              <a:rPr lang="en-US" sz="1250" b="0" dirty="0">
                <a:solidFill>
                  <a:srgbClr val="94A3B8"/>
                </a:solidFill>
                <a:latin typeface="Avenir Next"/>
              </a:rPr>
              <a:t>-</a:t>
            </a:r>
            <a:r>
              <a:rPr sz="1250" b="0" dirty="0">
                <a:solidFill>
                  <a:srgbClr val="94A3B8"/>
                </a:solidFill>
                <a:latin typeface="Avenir Next"/>
              </a:rPr>
              <a:t> 8× the planned Ninh </a:t>
            </a:r>
            <a:r>
              <a:rPr sz="1250" b="0" dirty="0" err="1">
                <a:solidFill>
                  <a:srgbClr val="94A3B8"/>
                </a:solidFill>
                <a:latin typeface="Avenir Next"/>
              </a:rPr>
              <a:t>Thuận</a:t>
            </a:r>
            <a:r>
              <a:rPr sz="1250" b="0" dirty="0">
                <a:solidFill>
                  <a:srgbClr val="94A3B8"/>
                </a:solidFill>
                <a:latin typeface="Avenir Next"/>
              </a:rPr>
              <a:t> nuclear plant — yet cut feeder-wide on sunny mornings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1892808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4D399"/>
                </a:solidFill>
                <a:latin typeface="Avenir Next"/>
              </a:rPr>
              <a:t>450,000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633472"/>
            <a:ext cx="3264408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94A3B8"/>
                </a:solidFill>
                <a:latin typeface="Avenir Next"/>
              </a:rPr>
              <a:t>petrol bikes replaced under Hanoi's LEZ </a:t>
            </a:r>
            <a:r>
              <a:rPr lang="en-US" sz="1250" dirty="0">
                <a:solidFill>
                  <a:srgbClr val="94A3B8"/>
                </a:solidFill>
                <a:latin typeface="Avenir Next"/>
              </a:rPr>
              <a:t>-</a:t>
            </a:r>
            <a:r>
              <a:rPr sz="1250" b="0" dirty="0">
                <a:solidFill>
                  <a:srgbClr val="94A3B8"/>
                </a:solidFill>
                <a:latin typeface="Avenir Next"/>
              </a:rPr>
              <a:t> 1 in 15 of the city's motorbikes — set to charge on evening coal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892808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8BDF8"/>
                </a:solidFill>
                <a:latin typeface="Avenir Next"/>
              </a:rPr>
              <a:t>2× by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633472"/>
            <a:ext cx="3264408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250" b="0" dirty="0">
                <a:solidFill>
                  <a:srgbClr val="94A3B8"/>
                </a:solidFill>
                <a:latin typeface="Avenir Next"/>
              </a:rPr>
              <a:t>data-center</a:t>
            </a:r>
            <a:r>
              <a:rPr sz="1250" b="0" dirty="0">
                <a:solidFill>
                  <a:srgbClr val="94A3B8"/>
                </a:solidFill>
                <a:latin typeface="Avenir Next"/>
              </a:rPr>
              <a:t> demand: 735 → ~1,500 MW </a:t>
            </a:r>
            <a:r>
              <a:rPr lang="en-US" sz="1250" b="0" dirty="0">
                <a:solidFill>
                  <a:srgbClr val="94A3B8"/>
                </a:solidFill>
                <a:latin typeface="Avenir Next"/>
              </a:rPr>
              <a:t>-</a:t>
            </a:r>
            <a:r>
              <a:rPr sz="1250" b="0" dirty="0">
                <a:solidFill>
                  <a:srgbClr val="94A3B8"/>
                </a:solidFill>
                <a:latin typeface="Avenir Next"/>
              </a:rPr>
              <a:t> the draw of ~4 million homes — mandated ≥50% green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11064240" cy="19202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87171"/>
                </a:solidFill>
                <a:latin typeface="Avenir Next"/>
              </a:rPr>
              <a:t>ROOT CAUSE — curtailment is blunt because it is blind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10607040" cy="656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 dirty="0">
                <a:solidFill>
                  <a:srgbClr val="E2E8F0"/>
                </a:solidFill>
                <a:latin typeface="Avenir Next"/>
              </a:rPr>
              <a:t>Operators can't see which home could keep exporting </a:t>
            </a:r>
            <a:r>
              <a:rPr sz="1500" b="0" dirty="0">
                <a:solidFill>
                  <a:srgbClr val="E2E8F0"/>
                </a:solidFill>
                <a:latin typeface="Avenir Next"/>
              </a:rPr>
              <a:t>→ whole feeders are cut.</a:t>
            </a:r>
          </a:p>
          <a:p>
            <a:pPr algn="l">
              <a:spcAft>
                <a:spcPts val="800"/>
              </a:spcAft>
            </a:pPr>
            <a:r>
              <a:rPr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 dirty="0">
                <a:solidFill>
                  <a:srgbClr val="E2E8F0"/>
                </a:solidFill>
                <a:latin typeface="Avenir Next"/>
              </a:rPr>
              <a:t>26 Jun 2026: surplus-sale cap raised 20% → 50% </a:t>
            </a:r>
            <a:r>
              <a:rPr lang="en-US" sz="1500" b="1" dirty="0">
                <a:solidFill>
                  <a:srgbClr val="E2E8F0"/>
                </a:solidFill>
                <a:latin typeface="Avenir Next"/>
              </a:rPr>
              <a:t>-</a:t>
            </a:r>
            <a:r>
              <a:rPr sz="1500" b="0" dirty="0">
                <a:solidFill>
                  <a:srgbClr val="E2E8F0"/>
                </a:solidFill>
                <a:latin typeface="Avenir Next"/>
              </a:rPr>
              <a:t> the ceiling doubled, and nobody has a fair way to allocate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IMPACT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E2E8F0"/>
                </a:solidFill>
                <a:latin typeface="Avenir Next"/>
              </a:rPr>
              <a:t>What one intelligence layer is worth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4D399"/>
                </a:solidFill>
                <a:latin typeface="Avenir Next"/>
              </a:rPr>
              <a:t>15–19 GWh/yr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16352"/>
            <a:ext cx="2322576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94A3B8"/>
                </a:solidFill>
                <a:latin typeface="Avenir Next"/>
              </a:rPr>
              <a:t>rescued across Hanoi </a:t>
            </a:r>
            <a:r>
              <a:rPr lang="en-US" sz="1250" b="0" dirty="0">
                <a:solidFill>
                  <a:srgbClr val="94A3B8"/>
                </a:solidFill>
                <a:latin typeface="Avenir Next"/>
              </a:rPr>
              <a:t>-</a:t>
            </a:r>
            <a:r>
              <a:rPr sz="1250" b="0" dirty="0">
                <a:solidFill>
                  <a:srgbClr val="94A3B8"/>
                </a:solidFill>
                <a:latin typeface="Avenir Next"/>
              </a:rPr>
              <a:t> a year's electricity for ~6,000 homes (10–13 kt CO₂)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828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938528"/>
            <a:ext cx="247802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dirty="0">
                <a:solidFill>
                  <a:srgbClr val="38BDF8"/>
                </a:solidFill>
                <a:latin typeface="Avenir Next"/>
              </a:rPr>
              <a:t>16–27 kt</a:t>
            </a:r>
            <a:r>
              <a:rPr lang="en-VN" sz="2400" b="1" dirty="0">
                <a:solidFill>
                  <a:srgbClr val="38BDF8"/>
                </a:solidFill>
                <a:latin typeface="Avenir Next"/>
              </a:rPr>
              <a:t> </a:t>
            </a:r>
            <a:r>
              <a:rPr sz="2400" b="1" dirty="0">
                <a:solidFill>
                  <a:srgbClr val="38BDF8"/>
                </a:solidFill>
                <a:latin typeface="Avenir Next"/>
              </a:rPr>
              <a:t>CO₂/yr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816352"/>
            <a:ext cx="2322576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94A3B8"/>
                </a:solidFill>
                <a:latin typeface="Avenir Next"/>
              </a:rPr>
              <a:t>avoided by charging e-bikes on sunshine </a:t>
            </a:r>
            <a:r>
              <a:rPr lang="en-US" sz="1250" b="0" dirty="0">
                <a:solidFill>
                  <a:srgbClr val="94A3B8"/>
                </a:solidFill>
                <a:latin typeface="Avenir Next"/>
              </a:rPr>
              <a:t>-</a:t>
            </a:r>
            <a:r>
              <a:rPr sz="1250" b="0" dirty="0">
                <a:solidFill>
                  <a:srgbClr val="94A3B8"/>
                </a:solidFill>
                <a:latin typeface="Avenir Next"/>
              </a:rPr>
              <a:t> like planting a million trees, every year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828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938528"/>
            <a:ext cx="232257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dirty="0">
                <a:solidFill>
                  <a:srgbClr val="FBBF24"/>
                </a:solidFill>
                <a:latin typeface="Avenir Next"/>
              </a:rPr>
              <a:t>0.6</a:t>
            </a:r>
            <a:r>
              <a:rPr lang="en-US" sz="2400" b="1" dirty="0">
                <a:solidFill>
                  <a:srgbClr val="FBBF24"/>
                </a:solidFill>
                <a:latin typeface="Avenir Next"/>
              </a:rPr>
              <a:t>-</a:t>
            </a:r>
            <a:r>
              <a:rPr sz="2400" b="1" dirty="0">
                <a:solidFill>
                  <a:srgbClr val="FBBF24"/>
                </a:solidFill>
                <a:latin typeface="Avenir Next"/>
              </a:rPr>
              <a:t>1.0M ₫/yr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816352"/>
            <a:ext cx="2322576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94A3B8"/>
                </a:solidFill>
                <a:latin typeface="Avenir Next"/>
              </a:rPr>
              <a:t>back in each solar family's pocket </a:t>
            </a:r>
            <a:r>
              <a:rPr lang="en-US" sz="1250" b="0" dirty="0">
                <a:solidFill>
                  <a:srgbClr val="94A3B8"/>
                </a:solidFill>
                <a:latin typeface="Avenir Next"/>
              </a:rPr>
              <a:t>-</a:t>
            </a:r>
            <a:r>
              <a:rPr sz="1250" b="0" dirty="0">
                <a:solidFill>
                  <a:srgbClr val="94A3B8"/>
                </a:solidFill>
                <a:latin typeface="Avenir Next"/>
              </a:rPr>
              <a:t> a month's power bill, from energy thrown away today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4" y="1828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34856" y="1938528"/>
            <a:ext cx="232257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400" b="1" dirty="0">
                <a:solidFill>
                  <a:srgbClr val="34D399"/>
                </a:solidFill>
                <a:latin typeface="Avenir Next"/>
              </a:rPr>
              <a:t>8% cheaper</a:t>
            </a:r>
            <a:endParaRPr sz="2400" b="1" dirty="0">
              <a:solidFill>
                <a:srgbClr val="34D399"/>
              </a:solidFill>
              <a:latin typeface="Avenir Nex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34856" y="28163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94A3B8"/>
                </a:solidFill>
                <a:latin typeface="Avenir Next"/>
              </a:rPr>
              <a:t>per MWh: clean 24/7 power ~8% cheaper than the grid tariff data </a:t>
            </a:r>
            <a:r>
              <a:rPr sz="1250" b="0" dirty="0" err="1">
                <a:solidFill>
                  <a:srgbClr val="94A3B8"/>
                </a:solidFill>
                <a:latin typeface="Avenir Next"/>
              </a:rPr>
              <a:t>centres</a:t>
            </a:r>
            <a:r>
              <a:rPr sz="1250" b="0" dirty="0">
                <a:solidFill>
                  <a:srgbClr val="94A3B8"/>
                </a:solidFill>
                <a:latin typeface="Avenir Next"/>
              </a:rPr>
              <a:t> 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>
                <a:solidFill>
                  <a:srgbClr val="E2E8F0"/>
                </a:solidFill>
                <a:latin typeface="Avenir Next"/>
              </a:rPr>
              <a:t>EVN: </a:t>
            </a:r>
            <a:r>
              <a:rPr sz="1500" b="0">
                <a:solidFill>
                  <a:srgbClr val="E2E8F0"/>
                </a:solidFill>
                <a:latin typeface="Avenir Next"/>
              </a:rPr>
              <a:t>transformer reinforcement deferred — hundreds of millions ₫ per site.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>
                <a:solidFill>
                  <a:srgbClr val="E2E8F0"/>
                </a:solidFill>
                <a:latin typeface="Avenir Next"/>
              </a:rPr>
              <a:t>National scenario 2030: </a:t>
            </a:r>
            <a:r>
              <a:rPr sz="1500" b="0">
                <a:solidFill>
                  <a:srgbClr val="E2E8F0"/>
                </a:solidFill>
                <a:latin typeface="Avenir Next"/>
              </a:rPr>
              <a:t>300–380 GWh/yr ≈ 200–260 kt CO₂/yr.</a:t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>
                <a:solidFill>
                  <a:srgbClr val="E2E8F0"/>
                </a:solidFill>
                <a:latin typeface="Avenir Next"/>
              </a:rPr>
              <a:t>Every assumption is a slider </a:t>
            </a:r>
            <a:r>
              <a:rPr sz="1500" b="0">
                <a:solidFill>
                  <a:srgbClr val="E2E8F0"/>
                </a:solidFill>
                <a:latin typeface="Avenir Next"/>
              </a:rPr>
              <a:t>— judges can recompute all of this live.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PRODUCT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4D399"/>
                </a:solidFill>
                <a:latin typeface="Avenir Next"/>
              </a:rPr>
              <a:t>The intelligence layer that makes the single-buyer grid 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  <a:latin typeface="Avenir Next"/>
              </a:rPr>
              <a:t>USP: legal today (Decrees 58 &amp; 57/2025, VND rails) · zero new household hardware · explainable to a grandmother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3593592" cy="22860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31720"/>
            <a:ext cx="3264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8BDF8"/>
                </a:solidFill>
                <a:latin typeface="Avenir Next"/>
              </a:rPr>
              <a:t>GridMind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3264408" cy="715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PREDICTS safe export headroom per transformer, per 15 minutes </a:t>
            </a:r>
            <a:r>
              <a:rPr lang="en-US" sz="1350" b="0" dirty="0">
                <a:solidFill>
                  <a:srgbClr val="E2E8F0"/>
                </a:solidFill>
                <a:latin typeface="Avenir Next"/>
              </a:rPr>
              <a:t>–</a:t>
            </a:r>
            <a:r>
              <a:rPr sz="1350" b="0" dirty="0">
                <a:solidFill>
                  <a:srgbClr val="E2E8F0"/>
                </a:solidFill>
                <a:latin typeface="Avenir Next"/>
              </a:rPr>
              <a:t> </a:t>
            </a:r>
            <a:r>
              <a:rPr lang="en-US" sz="1350" b="0" dirty="0">
                <a:solidFill>
                  <a:srgbClr val="E2E8F0"/>
                </a:solidFill>
                <a:latin typeface="Avenir Next"/>
              </a:rPr>
              <a:t>86% accuracy </a:t>
            </a:r>
            <a:r>
              <a:rPr sz="1350" b="0" dirty="0">
                <a:solidFill>
                  <a:srgbClr val="E2E8F0"/>
                </a:solidFill>
                <a:latin typeface="Avenir Next"/>
              </a:rPr>
              <a:t>on real Hanoi weather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48840"/>
            <a:ext cx="3593592" cy="22860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2331720"/>
            <a:ext cx="3264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4D399"/>
                </a:solidFill>
                <a:latin typeface="Avenir Next"/>
              </a:rPr>
              <a:t>HeadRoom Auction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880360"/>
            <a:ext cx="3264408" cy="715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ALLOCATES it fairly </a:t>
            </a:r>
            <a:r>
              <a:rPr lang="en-US" sz="1350" b="0" dirty="0">
                <a:solidFill>
                  <a:srgbClr val="E2E8F0"/>
                </a:solidFill>
                <a:latin typeface="Avenir Next"/>
              </a:rPr>
              <a:t>-</a:t>
            </a:r>
            <a:r>
              <a:rPr sz="1350" b="0" dirty="0">
                <a:solidFill>
                  <a:srgbClr val="E2E8F0"/>
                </a:solidFill>
                <a:latin typeface="Avenir Next"/>
              </a:rPr>
              <a:t> minimal curtailment, </a:t>
            </a:r>
            <a:r>
              <a:rPr lang="en-US" sz="1350" b="0" dirty="0">
                <a:solidFill>
                  <a:srgbClr val="E2E8F0"/>
                </a:solidFill>
                <a:latin typeface="Avenir Next"/>
              </a:rPr>
              <a:t>maintain physical limit</a:t>
            </a:r>
            <a:r>
              <a:rPr sz="1350" b="0" dirty="0">
                <a:solidFill>
                  <a:srgbClr val="E2E8F0"/>
                </a:solidFill>
                <a:latin typeface="Avenir Next"/>
              </a:rPr>
              <a:t>, priority credits for the declined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48840"/>
            <a:ext cx="3593592" cy="22860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2331720"/>
            <a:ext cx="3264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BBF24"/>
                </a:solidFill>
                <a:latin typeface="Avenir Next"/>
              </a:rPr>
              <a:t>FlexMatch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880360"/>
            <a:ext cx="326440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2E8F0"/>
                </a:solidFill>
                <a:latin typeface="Avenir Next"/>
              </a:rPr>
              <a:t>STEERS swap stations &amp; depots to charge on sunshine — Sun-to-Wheels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864608"/>
            <a:ext cx="1060704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venir Next"/>
              </a:rPr>
              <a:t>Same engine, Tier 2 </a:t>
            </a:r>
            <a:r>
              <a:rPr lang="en-US" sz="1450" b="1" dirty="0">
                <a:solidFill>
                  <a:srgbClr val="38BDF8"/>
                </a:solidFill>
                <a:latin typeface="Avenir Next"/>
              </a:rPr>
              <a:t>-</a:t>
            </a:r>
            <a:r>
              <a:rPr sz="1450" b="1" dirty="0">
                <a:solidFill>
                  <a:srgbClr val="38BDF8"/>
                </a:solidFill>
                <a:latin typeface="Avenir Next"/>
              </a:rPr>
              <a:t> Sun-to-Servers: </a:t>
            </a:r>
            <a:r>
              <a:rPr sz="1450" b="0" dirty="0">
                <a:solidFill>
                  <a:srgbClr val="E2E8F0"/>
                </a:solidFill>
                <a:latin typeface="Avenir Next"/>
              </a:rPr>
              <a:t>aggregate orchestrated feeders + storage into firm 24/7 clean blocks for data </a:t>
            </a:r>
            <a:r>
              <a:rPr sz="1450" b="0" dirty="0" err="1">
                <a:solidFill>
                  <a:srgbClr val="E2E8F0"/>
                </a:solidFill>
                <a:latin typeface="Avenir Next"/>
              </a:rPr>
              <a:t>centres</a:t>
            </a:r>
            <a:r>
              <a:rPr sz="1450" b="0" dirty="0">
                <a:solidFill>
                  <a:srgbClr val="E2E8F0"/>
                </a:solidFill>
                <a:latin typeface="Avenir Next"/>
              </a:rPr>
              <a:t> via DPPA.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LIVE DEMO — WORKING PROTOTYPE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E2E8F0"/>
                </a:solidFill>
                <a:latin typeface="Avenir Next"/>
              </a:rPr>
              <a:t>A real Hanoi sunny day (26 May 2026), twice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487168" cy="566928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venir Next"/>
              </a:rPr>
              <a:t>SENSE + FORECAST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554480"/>
            <a:ext cx="2487168" cy="566928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64992" y="1627632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Avenir Next"/>
              </a:rPr>
              <a:t>BID (capped at physics)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1719072"/>
            <a:ext cx="274320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2487168" cy="566928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81344" y="1627632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Avenir Next"/>
              </a:rPr>
              <a:t>CLEAR (fair MILP)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79592" y="1719072"/>
            <a:ext cx="274320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97696" y="1554480"/>
            <a:ext cx="2487168" cy="566928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97696" y="1627632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34D399"/>
                </a:solidFill>
                <a:latin typeface="Avenir Next"/>
              </a:rPr>
              <a:t>SETTLE (VND + ledger)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95944" y="1719072"/>
            <a:ext cx="274320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24688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257860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4D399"/>
                </a:solidFill>
                <a:latin typeface="Avenir Next"/>
              </a:rPr>
              <a:t>703 →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273552"/>
            <a:ext cx="2322576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94A3B8"/>
                </a:solidFill>
                <a:latin typeface="Avenir Next"/>
              </a:rPr>
              <a:t>kWh wasted, before vs with </a:t>
            </a:r>
            <a:r>
              <a:rPr sz="1250" b="0" dirty="0" err="1">
                <a:solidFill>
                  <a:srgbClr val="94A3B8"/>
                </a:solidFill>
                <a:latin typeface="Avenir Next"/>
              </a:rPr>
              <a:t>FirmGrid</a:t>
            </a:r>
            <a:r>
              <a:rPr sz="1250" b="0" dirty="0">
                <a:solidFill>
                  <a:srgbClr val="94A3B8"/>
                </a:solidFill>
                <a:latin typeface="Avenir Next"/>
              </a:rPr>
              <a:t> </a:t>
            </a:r>
            <a:r>
              <a:rPr lang="en-US" sz="1250" b="0" dirty="0">
                <a:solidFill>
                  <a:srgbClr val="94A3B8"/>
                </a:solidFill>
                <a:latin typeface="Avenir Next"/>
              </a:rPr>
              <a:t>-</a:t>
            </a:r>
            <a:r>
              <a:rPr sz="1250" b="0" dirty="0">
                <a:solidFill>
                  <a:srgbClr val="94A3B8"/>
                </a:solidFill>
                <a:latin typeface="Avenir Next"/>
              </a:rPr>
              <a:t> 97% rescued: a day's power for ~100 homes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5848" y="24688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20440" y="257860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8BDF8"/>
                </a:solidFill>
                <a:latin typeface="Avenir Next"/>
              </a:rPr>
              <a:t>17 →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273552"/>
            <a:ext cx="2322576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94A3B8"/>
                </a:solidFill>
                <a:latin typeface="Avenir Next"/>
              </a:rPr>
              <a:t>times the transformer hit its red line </a:t>
            </a:r>
            <a:r>
              <a:rPr lang="en-US" sz="1250" b="0" dirty="0">
                <a:solidFill>
                  <a:srgbClr val="94A3B8"/>
                </a:solidFill>
                <a:latin typeface="Avenir Next"/>
              </a:rPr>
              <a:t>-</a:t>
            </a:r>
            <a:r>
              <a:rPr sz="1250" b="0" dirty="0">
                <a:solidFill>
                  <a:srgbClr val="94A3B8"/>
                </a:solidFill>
                <a:latin typeface="Avenir Next"/>
              </a:rPr>
              <a:t> zero, while selling MORE solar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24688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7648" y="257860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BBF24"/>
                </a:solidFill>
                <a:latin typeface="Avenir Next"/>
              </a:rPr>
              <a:t>791,000 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273552"/>
            <a:ext cx="2322576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94A3B8"/>
                </a:solidFill>
                <a:latin typeface="Avenir Next"/>
              </a:rPr>
              <a:t>paid to local solar families in one sunny day </a:t>
            </a:r>
            <a:r>
              <a:rPr lang="en-US" sz="1250" b="0" dirty="0">
                <a:solidFill>
                  <a:srgbClr val="94A3B8"/>
                </a:solidFill>
                <a:latin typeface="Avenir Next"/>
              </a:rPr>
              <a:t>-</a:t>
            </a:r>
            <a:r>
              <a:rPr sz="1250" b="0" dirty="0">
                <a:solidFill>
                  <a:srgbClr val="94A3B8"/>
                </a:solidFill>
                <a:latin typeface="Avenir Next"/>
              </a:rPr>
              <a:t> for energy that today earns nothing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0264" y="24688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34856" y="2578608"/>
            <a:ext cx="232257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800" b="1" dirty="0">
                <a:solidFill>
                  <a:srgbClr val="34D399"/>
                </a:solidFill>
                <a:latin typeface="Avenir Next"/>
              </a:rPr>
              <a:t>86%</a:t>
            </a:r>
            <a:endParaRPr sz="2800" b="1" dirty="0">
              <a:solidFill>
                <a:srgbClr val="34D399"/>
              </a:solidFill>
              <a:latin typeface="Avenir Nex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34856" y="3273552"/>
            <a:ext cx="2322576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dirty="0">
                <a:solidFill>
                  <a:srgbClr val="94A3B8"/>
                </a:solidFill>
                <a:latin typeface="Avenir Next"/>
              </a:rPr>
              <a:t>on real Hanoi weather </a:t>
            </a:r>
            <a:r>
              <a:rPr lang="en-US" sz="1250" b="0" dirty="0">
                <a:solidFill>
                  <a:srgbClr val="94A3B8"/>
                </a:solidFill>
                <a:latin typeface="Avenir Next"/>
              </a:rPr>
              <a:t>-</a:t>
            </a:r>
            <a:r>
              <a:rPr sz="1250" b="0" dirty="0">
                <a:solidFill>
                  <a:srgbClr val="94A3B8"/>
                </a:solidFill>
                <a:latin typeface="Avenir Next"/>
              </a:rPr>
              <a:t> catches ~6 of every 7 overloads an hour ahead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1106424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 dirty="0">
                <a:solidFill>
                  <a:srgbClr val="E2E8F0"/>
                </a:solidFill>
                <a:latin typeface="Avenir Next"/>
              </a:rPr>
              <a:t>Safer AND less wasteful: </a:t>
            </a:r>
            <a:r>
              <a:rPr sz="1500" b="0" dirty="0">
                <a:solidFill>
                  <a:srgbClr val="E2E8F0"/>
                </a:solidFill>
                <a:latin typeface="Avenir Next"/>
              </a:rPr>
              <a:t>97% of curtailed energy recovered with zero limit breaches </a:t>
            </a:r>
            <a:r>
              <a:rPr lang="en-US" sz="1500" b="0" dirty="0">
                <a:solidFill>
                  <a:srgbClr val="E2E8F0"/>
                </a:solidFill>
                <a:latin typeface="Avenir Next"/>
              </a:rPr>
              <a:t>-</a:t>
            </a:r>
            <a:r>
              <a:rPr sz="1500" b="0" dirty="0">
                <a:solidFill>
                  <a:srgbClr val="E2E8F0"/>
                </a:solidFill>
                <a:latin typeface="Avenir Next"/>
              </a:rPr>
              <a:t> the safety envelope holds even through a judge-made storm.</a:t>
            </a:r>
          </a:p>
          <a:p>
            <a:pPr algn="l">
              <a:spcAft>
                <a:spcPts val="900"/>
              </a:spcAft>
            </a:pPr>
            <a:r>
              <a:rPr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 dirty="0">
                <a:solidFill>
                  <a:srgbClr val="E2E8F0"/>
                </a:solidFill>
                <a:latin typeface="Avenir Next"/>
              </a:rPr>
              <a:t>Trust built in: </a:t>
            </a:r>
            <a:r>
              <a:rPr sz="1500" b="0" dirty="0">
                <a:solidFill>
                  <a:srgbClr val="E2E8F0"/>
                </a:solidFill>
                <a:latin typeface="Avenir Next"/>
              </a:rPr>
              <a:t>fair queue (no home waits more than 1 window) · inflated bids blocked before money moves · every payment hash-chain audited.</a:t>
            </a:r>
          </a:p>
          <a:p>
            <a:pPr algn="l">
              <a:spcAft>
                <a:spcPts val="900"/>
              </a:spcAft>
            </a:pPr>
            <a:r>
              <a:rPr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 dirty="0">
                <a:solidFill>
                  <a:srgbClr val="E2E8F0"/>
                </a:solidFill>
                <a:latin typeface="Avenir Next"/>
              </a:rPr>
              <a:t>Honest by design: </a:t>
            </a:r>
            <a:r>
              <a:rPr sz="1500" b="0" dirty="0">
                <a:solidFill>
                  <a:srgbClr val="E2E8F0"/>
                </a:solidFill>
                <a:latin typeface="Avenir Next"/>
              </a:rPr>
              <a:t>real Hanoi weather, held-out metrics on screen, every decision explained in one sentence.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Avenir Next"/>
              </a:rPr>
              <a:t>FIRMGRID  ·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E2E8F0"/>
                </a:solidFill>
                <a:latin typeface="Avenir Next"/>
              </a:rPr>
              <a:t>Four clocks started ticking this quarter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>
                <a:solidFill>
                  <a:srgbClr val="E2E8F0"/>
                </a:solidFill>
                <a:latin typeface="Avenir Next"/>
              </a:rPr>
              <a:t>1 Jul 2026 — Hanoi LEZ is live: </a:t>
            </a:r>
            <a:r>
              <a:rPr sz="1600" b="0">
                <a:solidFill>
                  <a:srgbClr val="E2E8F0"/>
                </a:solidFill>
                <a:latin typeface="Avenir Next"/>
              </a:rPr>
              <a:t>450,000 petrol bikes to replace; charging habits crystallise in the next 24 months — retrofitting coordination later is far harder.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>
                <a:solidFill>
                  <a:srgbClr val="E2E8F0"/>
                </a:solidFill>
                <a:latin typeface="Avenir Next"/>
              </a:rPr>
              <a:t>26 Jun 2026 — surplus-sale cap 20% → 50%: </a:t>
            </a:r>
            <a:r>
              <a:rPr sz="1600" b="0">
                <a:solidFill>
                  <a:srgbClr val="E2E8F0"/>
                </a:solidFill>
                <a:latin typeface="Avenir Next"/>
              </a:rPr>
              <a:t>sellable rooftop energy doubled overnight; the same constrained transformers must now allocate it.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>
                <a:solidFill>
                  <a:srgbClr val="E2E8F0"/>
                </a:solidFill>
                <a:latin typeface="Avenir Next"/>
              </a:rPr>
              <a:t>Jan 2026 — data-localisation law: </a:t>
            </a:r>
            <a:r>
              <a:rPr sz="1600" b="0">
                <a:solidFill>
                  <a:srgbClr val="E2E8F0"/>
                </a:solidFill>
                <a:latin typeface="Avenir Next"/>
              </a:rPr>
              <a:t>domestic data-centre build-out accelerates (735 MW → ~1,500 MW by 2030), mandated ≥50% green — buyers for firm clean blocks.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>
                <a:solidFill>
                  <a:srgbClr val="E2E8F0"/>
                </a:solidFill>
                <a:latin typeface="Avenir Next"/>
              </a:rPr>
              <a:t>2030–2035 — earliest nuclear (Ninh Thuận 1): </a:t>
            </a:r>
            <a:r>
              <a:rPr sz="1600" b="0">
                <a:solidFill>
                  <a:srgbClr val="E2E8F0"/>
                </a:solidFill>
                <a:latin typeface="Avenir Next"/>
              </a:rPr>
              <a:t>the firm-power gap until then is ours to fill; PDP8's 10–16 GW of storage takes years and billions — software ships in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  <a:latin typeface="Avenir Next"/>
              </a:rPr>
              <a:t>Every quarter of delay = curtailed GWh gone forever and charging habits locked onto coal.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WRAP UP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Avenir Next"/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82496"/>
            <a:ext cx="859536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15–19 GWh/yr + 26–40 kt CO₂/yr at Hanoi scale </a:t>
            </a:r>
            <a:r>
              <a:rPr lang="en-US" sz="1350" b="0" dirty="0">
                <a:solidFill>
                  <a:srgbClr val="E2E8F0"/>
                </a:solidFill>
                <a:latin typeface="Avenir Next"/>
              </a:rPr>
              <a:t>-</a:t>
            </a:r>
            <a:r>
              <a:rPr sz="1350" b="0" dirty="0">
                <a:solidFill>
                  <a:srgbClr val="E2E8F0"/>
                </a:solidFill>
                <a:latin typeface="Avenir Next"/>
              </a:rPr>
              <a:t> </a:t>
            </a:r>
            <a:r>
              <a:rPr sz="1350" b="0" dirty="0" err="1">
                <a:solidFill>
                  <a:srgbClr val="E2E8F0"/>
                </a:solidFill>
                <a:latin typeface="Avenir Next"/>
              </a:rPr>
              <a:t>recomputable</a:t>
            </a:r>
            <a:r>
              <a:rPr sz="1350" b="0" dirty="0">
                <a:solidFill>
                  <a:srgbClr val="E2E8F0"/>
                </a:solidFill>
                <a:latin typeface="Avenir Next"/>
              </a:rPr>
              <a:t> live, every assumption on a slider.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00837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Avenir Next"/>
              </a:rPr>
              <a:t>MARKET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08376"/>
            <a:ext cx="8595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2E8F0"/>
                </a:solidFill>
                <a:latin typeface="Avenir Next"/>
              </a:rPr>
              <a:t>Regulation-native: EVN stays sole buyer, stations join via DPPA, VND-only settlement. Ships without new law — pilot-ready with EVNHANOI Q3 2026, first firm DPPA block H2 2027.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06240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33425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Avenir Next"/>
              </a:rPr>
              <a:t>USP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334256"/>
            <a:ext cx="8595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E2E8F0"/>
                </a:solidFill>
                <a:latin typeface="Avenir Next"/>
              </a:rPr>
              <a:t>The only platform that predicts congestion before it happens, allocates headroom fairly, and turns mobility batteries into the grid's sponge.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064240" cy="9079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34D399"/>
                </a:solidFill>
                <a:latin typeface="Avenir Next"/>
              </a:rPr>
              <a:t>A rooftop in Tay Ho charges a Grab driver's battery at noon — morning sunshine becomes the clean ride home tonight.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94A3B8"/>
                </a:solidFill>
                <a:latin typeface="Avenir Next"/>
              </a:rPr>
              <a:t>⚡ </a:t>
            </a:r>
            <a:r>
              <a:rPr sz="1600" b="0" dirty="0" err="1">
                <a:solidFill>
                  <a:srgbClr val="94A3B8"/>
                </a:solidFill>
                <a:latin typeface="Avenir Next"/>
              </a:rPr>
              <a:t>FirmGrid</a:t>
            </a:r>
            <a:r>
              <a:rPr sz="1600" b="0" dirty="0">
                <a:solidFill>
                  <a:srgbClr val="94A3B8"/>
                </a:solidFill>
                <a:latin typeface="Avenir Next"/>
              </a:rPr>
              <a:t> · </a:t>
            </a:r>
            <a:r>
              <a:rPr lang="en-US" sz="1600" b="0" dirty="0">
                <a:solidFill>
                  <a:srgbClr val="94A3B8"/>
                </a:solidFill>
                <a:latin typeface="Avenir Next"/>
              </a:rPr>
              <a:t>The Broke Three</a:t>
            </a:r>
            <a:endParaRPr sz="1600" b="0" dirty="0">
              <a:solidFill>
                <a:srgbClr val="94A3B8"/>
              </a:solidFill>
              <a:latin typeface="Avenir Nex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7 / 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47A488-A6F5-92D6-9BF1-0072EFBADD5C}"/>
              </a:ext>
            </a:extLst>
          </p:cNvPr>
          <p:cNvSpPr txBox="1"/>
          <p:nvPr/>
        </p:nvSpPr>
        <p:spPr>
          <a:xfrm>
            <a:off x="548640" y="658368"/>
            <a:ext cx="11064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200" b="1" dirty="0">
                <a:solidFill>
                  <a:srgbClr val="E2E8F0"/>
                </a:solidFill>
                <a:latin typeface="Avenir Next"/>
              </a:rPr>
              <a:t>Final points</a:t>
            </a:r>
            <a:endParaRPr sz="3200" b="1" dirty="0">
              <a:solidFill>
                <a:srgbClr val="E2E8F0"/>
              </a:solidFill>
              <a:latin typeface="Avenir N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1527</Words>
  <Application>Microsoft Macintosh PowerPoint</Application>
  <PresentationFormat>Widescreen</PresentationFormat>
  <Paragraphs>93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Avenir Next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Ethan Nguyen</cp:lastModifiedBy>
  <cp:revision>13</cp:revision>
  <dcterms:created xsi:type="dcterms:W3CDTF">2013-01-27T09:14:16Z</dcterms:created>
  <dcterms:modified xsi:type="dcterms:W3CDTF">2026-07-03T22:49:35Z</dcterms:modified>
  <cp:category/>
</cp:coreProperties>
</file>