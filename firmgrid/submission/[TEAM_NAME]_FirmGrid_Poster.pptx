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34D399"/>
                </a:solidFill>
                <a:latin typeface="Avenir Next"/>
              </a:rPr>
              <a:t>⚡ FirmGrid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E2E8F0"/>
                </a:solidFill>
                <a:latin typeface="Avenir Next"/>
              </a:rPr>
              <a:t>Vietnam throws away clean power at noon and charges its clean vehicles on coal at night. FirmGrid closes both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4D399"/>
                </a:solidFill>
                <a:latin typeface="Avenir Next"/>
              </a:rPr>
              <a:t>703 →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3639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kWh wasted on one real Hanoi feeder-day: baseline vs FirmGrid ON — 97% recovered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37744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48716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BBF24"/>
                </a:solidFill>
                <a:latin typeface="Avenir Next"/>
              </a:rPr>
              <a:t>15–19 GWh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13639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recovered per year across 1,000 Hanoi transformers ≈ 10–13 kt CO₂/yr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37744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48716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8BDF8"/>
                </a:solidFill>
                <a:latin typeface="Avenir Next"/>
              </a:rPr>
              <a:t>≈1 kg CO₂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313639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avoided per battery swap charged in the solar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2377440"/>
            <a:ext cx="2651760" cy="16002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248716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4D399"/>
                </a:solidFill>
                <a:latin typeface="Avenir Next"/>
              </a:rPr>
              <a:t>54% · $85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313639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hour-matched CFE and $/MWh for a 20 MW data-centre firm block (vs $92 grid)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7223760" cy="21488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Avenir Next"/>
              </a:rPr>
              <a:t>FORECAST → AUCTION → STEER → SETTLE, every 15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00600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250" b="1">
                <a:solidFill>
                  <a:srgbClr val="E2E8F0"/>
                </a:solidFill>
                <a:latin typeface="Avenir Next"/>
              </a:rPr>
              <a:t>GridMind </a:t>
            </a:r>
            <a:r>
              <a:rPr sz="1250" b="0">
                <a:solidFill>
                  <a:srgbClr val="E2E8F0"/>
                </a:solidFill>
                <a:latin typeface="Avenir Next"/>
              </a:rPr>
              <a:t>predicts safe headroom per transformer (F1 0.86 on real Hanoi weather).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250" b="1">
                <a:solidFill>
                  <a:srgbClr val="E2E8F0"/>
                </a:solidFill>
                <a:latin typeface="Avenir Next"/>
              </a:rPr>
              <a:t>HeadRoom Auction </a:t>
            </a:r>
            <a:r>
              <a:rPr sz="1250" b="0">
                <a:solidFill>
                  <a:srgbClr val="E2E8F0"/>
                </a:solidFill>
                <a:latin typeface="Avenir Next"/>
              </a:rPr>
              <a:t>allocates it fairly — minimal, explainable curtailment.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250" b="1">
                <a:solidFill>
                  <a:srgbClr val="E2E8F0"/>
                </a:solidFill>
                <a:latin typeface="Avenir Next"/>
              </a:rPr>
              <a:t>FlexMatch </a:t>
            </a:r>
            <a:r>
              <a:rPr sz="1250" b="0">
                <a:solidFill>
                  <a:srgbClr val="E2E8F0"/>
                </a:solidFill>
                <a:latin typeface="Avenir Next"/>
              </a:rPr>
              <a:t>pays swap stations to charge on sunshine, not coal.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250" b="1">
                <a:solidFill>
                  <a:srgbClr val="E2E8F0"/>
                </a:solidFill>
                <a:latin typeface="Avenir Next"/>
              </a:rPr>
              <a:t>TrustLedger </a:t>
            </a:r>
            <a:r>
              <a:rPr sz="1250" b="0">
                <a:solidFill>
                  <a:srgbClr val="E2E8F0"/>
                </a:solidFill>
                <a:latin typeface="Avenir Next"/>
              </a:rPr>
              <a:t>verifies, pays VND, seals a tamper-evident audit.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420624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4343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Avenir Next"/>
              </a:rPr>
              <a:t>TWO TIERS, ONE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80060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E2E8F0"/>
                </a:solidFill>
                <a:latin typeface="Avenir Next"/>
              </a:rPr>
              <a:t>Tier 1 · Sun-to-Wheels — live today, legal today (Decrees 58 &amp; 57/2025, VND rails).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E2E8F0"/>
                </a:solidFill>
                <a:latin typeface="Avenir Next"/>
              </a:rPr>
              <a:t>Tier 2 · Sun-to-Servers — firm 24/7 blocks for data centres via DPPA.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[TEAM_NAME] · Track 1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