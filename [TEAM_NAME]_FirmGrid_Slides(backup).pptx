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76301"/>
  </p:normalViewPr>
  <p:slideViewPr>
    <p:cSldViewPr snapToGrid="0" snapToObjects="1">
      <p:cViewPr varScale="1">
        <p:scale>
          <a:sx n="95" d="100"/>
          <a:sy n="95" d="100"/>
        </p:scale>
        <p:origin x="11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786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 (30s). Welcome the judges, introduce each member by name and what they built — one sentence each. Then the hook: every sunny morning Vietnam curtails rooftop solar; every evening its new electric motorbikes charge on coal. FirmGrid closes both loops — and everything you'll see runs live on this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 (30s). Three figures: 19 GW of solar that gets cut feeder-wide; 450k motorbikes electrifying into the evening peak; data-centre demand doubling with a green mandate. Root cause in one line: the operator is blind, so the cut is blunt — it's an intelligence gap, not a hardware gap. And the surplus cap just doubled a week before this pitch: more pressure, still no allocator.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IMPACT (30s). Supply side: 15-19 GWh a year recovered across Hanoi's constrained transformers — 10-13 kt of CO2. Mobility side: another 16-27 kt by steering the LEZ charging wave into the solar window — one kilogram per swap, printed on the rider's receipt. Households earn real money from energy that's discarded today; EVN defers copper. And at Tier 2, the clean block undercuts the grid tariff.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PRODUCT (60s). One sentence: FirmGrid doesn't fight the single-buyer system, it makes it intelligent. Three features only: GridMind predicts, the auction allocates fairly, FlexMatch steers mobility charging into the sun. Settlement is verified, VND-only, hash-chain audited — no crypto. And the same engine scales to Tier 2: firm hour-matched blocks for data centres. If nuclear lands on time we built the flexible grid it needs; if it slips, we're why the lights stayed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(120s — switch to the app, keep this slide as backup). Choreography: 1) Neighbourhood Live map, scrub to noon — baseline side turns red (feeder-wide cut), FirmGrid side stays green, stations visibly swell. 2) Tab 1 counters: 703 kWh wasted becomes 20 — 97% recovered, zero breaches, 791k dong paid. 3) Hand a judge the mouse: storm slider, then the fraud bid — Sentinel blocks it and seals the event in the hash-chained ledger. Close with: the weather is real — twelve months of Hanoi data ending last week. The pipeline strip above is the mechanism: sense, bid, clear, settle — every 15 minutes, never above 90% of forecast headroom, human override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WHY NOW (20s). Four dates: the LEZ went live this week; the surplus cap doubled last week; the </a:t>
            </a:r>
            <a:r>
              <a:rPr dirty="0" err="1"/>
              <a:t>localisation</a:t>
            </a:r>
            <a:r>
              <a:rPr dirty="0"/>
              <a:t> law is pulling data </a:t>
            </a:r>
            <a:r>
              <a:rPr dirty="0" err="1"/>
              <a:t>centres</a:t>
            </a:r>
            <a:r>
              <a:rPr dirty="0"/>
              <a:t> onshore with a green mandate; and nothing firm arrives before 2030-35. The window is now — and every sunny day that passes, the wasted energy is gone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(30s). Re-emphasize three things: the impact number, the market fit — legal today, no new law, pilot path already mapped — and the USP: predict, allocate fairly, recruit mobility batteries. Land the one-liner: morning sunshine becomes the clean ride home tonight — and, at scale, firm 24/7 power for the digital economy. Invite questions; the prototype is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93631" y="-9144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34D399"/>
                </a:solidFill>
                <a:latin typeface="Avenir Next"/>
              </a:rPr>
              <a:t>⚡ FirmGrid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2E8F0"/>
                </a:solidFill>
                <a:latin typeface="Avenir Next"/>
              </a:rPr>
              <a:t>Vietnam throws away clean power at noon —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E2E8F0"/>
                </a:solidFill>
                <a:latin typeface="Avenir Next"/>
              </a:rPr>
              <a:t>and charges its clean vehicles on coal at night.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34D399"/>
                </a:solidFill>
                <a:latin typeface="Avenir Next"/>
              </a:rPr>
              <a:t>Sun-to-Wheels today. Sun-to-Servers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39" y="3931920"/>
            <a:ext cx="5098333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14800"/>
            <a:ext cx="239572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E2E8F0"/>
                </a:solidFill>
                <a:latin typeface="Avenir Next"/>
              </a:rPr>
              <a:t>Nguyễn Hoàng Hiếu</a:t>
            </a:r>
            <a:endParaRPr sz="1600" b="1" dirty="0">
              <a:solidFill>
                <a:srgbClr val="E2E8F0"/>
              </a:solidFill>
              <a:latin typeface="Avenir Nex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2395728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94A3B8"/>
                </a:solidFill>
                <a:latin typeface="Avenir Next"/>
              </a:rPr>
              <a:t>ML &amp; </a:t>
            </a:r>
            <a:r>
              <a:rPr lang="en-US" sz="1200" b="0" dirty="0">
                <a:solidFill>
                  <a:srgbClr val="94A3B8"/>
                </a:solidFill>
                <a:latin typeface="Avenir Next"/>
              </a:rPr>
              <a:t>Optimization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94A3B8"/>
                </a:solidFill>
                <a:latin typeface="Avenir Next"/>
              </a:rPr>
              <a:t>Product, UX &amp; policy</a:t>
            </a:r>
          </a:p>
          <a:p>
            <a:pPr algn="l">
              <a:spcAft>
                <a:spcPts val="600"/>
              </a:spcAft>
            </a:pPr>
            <a:endParaRPr sz="1200" b="0" dirty="0">
              <a:solidFill>
                <a:srgbClr val="94A3B8"/>
              </a:solidFill>
              <a:latin typeface="Avenir Nex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45349" y="3931920"/>
            <a:ext cx="454797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75446" y="4114800"/>
            <a:ext cx="408071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E2E8F0"/>
                </a:solidFill>
                <a:latin typeface="Avenir Next"/>
              </a:rPr>
              <a:t>Nguyễn Quốc Đăng</a:t>
            </a:r>
            <a:endParaRPr sz="1600" b="1" dirty="0">
              <a:solidFill>
                <a:srgbClr val="E2E8F0"/>
              </a:solidFill>
              <a:latin typeface="Avenir Nex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75446" y="4709160"/>
            <a:ext cx="4080713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94A3B8"/>
                </a:solidFill>
                <a:latin typeface="Avenir Next"/>
              </a:rPr>
              <a:t>Power systems &amp; digital twin</a:t>
            </a:r>
            <a:endParaRPr lang="en-US" sz="1200" b="0" dirty="0">
              <a:solidFill>
                <a:srgbClr val="94A3B8"/>
              </a:solidFill>
              <a:latin typeface="Avenir Next"/>
            </a:endParaRP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94A3B8"/>
                </a:solidFill>
                <a:latin typeface="Avenir Next"/>
              </a:rPr>
              <a:t>Backend &amp; settlement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10642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b="0" dirty="0">
                <a:solidFill>
                  <a:srgbClr val="94A3B8"/>
                </a:solidFill>
                <a:latin typeface="Avenir Next"/>
              </a:rPr>
              <a:t>The Broke Three </a:t>
            </a:r>
            <a:r>
              <a:rPr sz="1300" b="0" dirty="0">
                <a:solidFill>
                  <a:srgbClr val="94A3B8"/>
                </a:solidFill>
                <a:latin typeface="Avenir Next"/>
              </a:rPr>
              <a:t>·  Asian Hackathon for Green Future 2026  ·  Track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8FE846-FCCF-DCFB-E997-F47E2A88D8B1}"/>
              </a:ext>
            </a:extLst>
          </p:cNvPr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dirty="0">
                <a:solidFill>
                  <a:srgbClr val="94A3B8"/>
                </a:solidFill>
                <a:latin typeface="Avenir Next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PROBLEM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E2E8F0"/>
                </a:solidFill>
                <a:latin typeface="Avenir Next"/>
              </a:rPr>
              <a:t>Wasted at noon. Coal at night. And 2026 makes it worse.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92808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BBF24"/>
                </a:solidFill>
                <a:latin typeface="Avenir Next"/>
              </a:rPr>
              <a:t>~19 GW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33472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solar installed — curtailed feeder-wide on sunny mornings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892808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4D399"/>
                </a:solidFill>
                <a:latin typeface="Avenir Next"/>
              </a:rPr>
              <a:t>450,000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633472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petrol bikes replaced under Hanoi's LEZ → charging on the coal evening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892808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Avenir Next"/>
              </a:rPr>
              <a:t>2× 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633472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data-centre demand (735 → ~1,500 MW), mandated ≥50% green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87171"/>
                </a:solidFill>
                <a:latin typeface="Avenir Next"/>
              </a:rPr>
              <a:t>ROOT CAUSE — curtailment is blunt because it is blind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07040" cy="656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Operators can't see which home could keep exporting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→ whole feeders are cut.</a:t>
            </a:r>
          </a:p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lang="en-US" sz="1500" b="1" dirty="0">
                <a:solidFill>
                  <a:srgbClr val="E2E8F0"/>
                </a:solidFill>
                <a:latin typeface="Avenir Next"/>
              </a:rPr>
              <a:t>By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2026: surplus-sale cap raised 20% → 50%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— the ceiling doubled, and nobody has a fair way to allocate it.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086E62-8B15-8BEC-03DE-89AEAD961254}"/>
              </a:ext>
            </a:extLst>
          </p:cNvPr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10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IMPACT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E2E8F0"/>
                </a:solidFill>
                <a:latin typeface="Avenir Next"/>
              </a:rPr>
              <a:t>What </a:t>
            </a:r>
            <a:r>
              <a:rPr lang="en-US" sz="3200" b="1" dirty="0">
                <a:solidFill>
                  <a:srgbClr val="E2E8F0"/>
                </a:solidFill>
                <a:latin typeface="Avenir Next"/>
              </a:rPr>
              <a:t>a</a:t>
            </a:r>
            <a:r>
              <a:rPr sz="3200" b="1" dirty="0">
                <a:solidFill>
                  <a:srgbClr val="E2E8F0"/>
                </a:solidFill>
                <a:latin typeface="Avenir Next"/>
              </a:rPr>
              <a:t> intelligence layer is worth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4D399"/>
                </a:solidFill>
                <a:latin typeface="Avenir Next"/>
              </a:rPr>
              <a:t>15–19 GWh/yr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163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recovered · 1,000 Hanoi transformers ≈ 10–13 kt CO₂/yr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93852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8BDF8"/>
                </a:solidFill>
                <a:latin typeface="Avenir Next"/>
              </a:rPr>
              <a:t>16–27 kt CO₂/yr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163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from charging e-bikes on sun, not coal — ≈1 kg per swap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93852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BBF24"/>
                </a:solidFill>
                <a:latin typeface="Avenir Next"/>
              </a:rPr>
              <a:t>0.6–1.0M ₫/yr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8163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per 5 kWp household · stations save 27–44M ₫/yr 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34856" y="193852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4D399"/>
                </a:solidFill>
                <a:latin typeface="Avenir Next"/>
              </a:rPr>
              <a:t>$85 vs $92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28163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per MWh: 54% hour-matched clean block vs grid tariff (20 MW DC)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1064240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EVN: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transformer reinforcement deferred — hundreds of millions ₫ per site.</a:t>
            </a:r>
          </a:p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National scenario 2030: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300–380 GWh/yr ≈ 200–260 kt CO₂/yr.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3115E4-AF4E-6B5F-CC0F-FB024DFAF931}"/>
              </a:ext>
            </a:extLst>
          </p:cNvPr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PRODUCT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4D399"/>
                </a:solidFill>
                <a:latin typeface="Avenir Next"/>
              </a:rPr>
              <a:t>The intelligence layer that makes the single-buyer grid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BBF24"/>
                </a:solidFill>
                <a:latin typeface="Avenir Next"/>
              </a:rPr>
              <a:t>USP: legal today (Decrees 58 &amp; 57/2025, VND rails) · zero new household hardware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3264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8BDF8"/>
                </a:solidFill>
                <a:latin typeface="Avenir Next"/>
              </a:rPr>
              <a:t>GridMind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3264408" cy="715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PREDICTS safe export headroom per transformer, per 15 minutes —</a:t>
            </a:r>
            <a:r>
              <a:rPr lang="en-US" sz="1350" b="0" dirty="0">
                <a:solidFill>
                  <a:srgbClr val="E2E8F0"/>
                </a:solidFill>
                <a:latin typeface="Avenir Next"/>
              </a:rPr>
              <a:t> 86% </a:t>
            </a:r>
            <a:r>
              <a:rPr lang="en-US" sz="1350" dirty="0">
                <a:solidFill>
                  <a:srgbClr val="E2E8F0"/>
                </a:solidFill>
                <a:latin typeface="Avenir Next"/>
              </a:rPr>
              <a:t>accuracy 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on real Hanoi weather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48840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2331720"/>
            <a:ext cx="3264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4D399"/>
                </a:solidFill>
                <a:latin typeface="Avenir Next"/>
              </a:rPr>
              <a:t>HeadRoom Auction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880360"/>
            <a:ext cx="32644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ALLOCATES it fairly — minimal curtailment, ≤90% of forecast, priority credits for the declined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2331720"/>
            <a:ext cx="3264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dirty="0" err="1">
                <a:solidFill>
                  <a:srgbClr val="FBBF24"/>
                </a:solidFill>
                <a:latin typeface="Avenir Next"/>
              </a:rPr>
              <a:t>FlexMatch</a:t>
            </a:r>
            <a:endParaRPr sz="1900" b="1" dirty="0">
              <a:solidFill>
                <a:srgbClr val="FBBF24"/>
              </a:solidFill>
              <a:latin typeface="Avenir N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1312" y="2880360"/>
            <a:ext cx="32644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STEERS swap stations &amp; depots to charge on sunshine — Sun-to-Wheels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864608"/>
            <a:ext cx="1060704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venir Next"/>
              </a:rPr>
              <a:t>Same engine, Tier 2 — Sun-to-Servers: </a:t>
            </a:r>
            <a:r>
              <a:rPr sz="1450" b="0" dirty="0">
                <a:solidFill>
                  <a:srgbClr val="E2E8F0"/>
                </a:solidFill>
                <a:latin typeface="Avenir Next"/>
              </a:rPr>
              <a:t>aggregate orchestrated feeders + storage into firm 24/7 clean blocks for data </a:t>
            </a:r>
            <a:r>
              <a:rPr sz="1450" b="0" dirty="0" err="1">
                <a:solidFill>
                  <a:srgbClr val="E2E8F0"/>
                </a:solidFill>
                <a:latin typeface="Avenir Next"/>
              </a:rPr>
              <a:t>centres</a:t>
            </a:r>
            <a:r>
              <a:rPr sz="1450" b="0" dirty="0">
                <a:solidFill>
                  <a:srgbClr val="E2E8F0"/>
                </a:solidFill>
                <a:latin typeface="Avenir Next"/>
              </a:rPr>
              <a:t> via DPPA. The bridge to nuclear-era baseload (2030–35).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6280E-58DA-F63A-F4A2-A30C882F4F37}"/>
              </a:ext>
            </a:extLst>
          </p:cNvPr>
          <p:cNvSpPr txBox="1"/>
          <p:nvPr/>
        </p:nvSpPr>
        <p:spPr>
          <a:xfrm>
            <a:off x="10995660" y="619963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LIVE DEMO — WORKING PROTOTYPE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>
                <a:solidFill>
                  <a:srgbClr val="E2E8F0"/>
                </a:solidFill>
                <a:latin typeface="Avenir Next"/>
              </a:rPr>
              <a:t>A real Hanoi sunny day (26 May 2026), twice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venir Next"/>
              </a:rPr>
              <a:t>SENSE +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34D399"/>
                </a:solidFill>
                <a:latin typeface="Avenir Next"/>
              </a:rPr>
              <a:t>BID (capped at physics)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1719072"/>
            <a:ext cx="274320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81344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FBBF24"/>
                </a:solidFill>
                <a:latin typeface="Avenir Next"/>
              </a:rPr>
              <a:t>CLEAR (fair MILP)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9592" y="1719072"/>
            <a:ext cx="274320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97696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97696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34D399"/>
                </a:solidFill>
                <a:latin typeface="Avenir Next"/>
              </a:rPr>
              <a:t>SETTLE (VND + ledger)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95944" y="1719072"/>
            <a:ext cx="274320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57860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4D399"/>
                </a:solidFill>
                <a:latin typeface="Avenir Next"/>
              </a:rPr>
              <a:t>703 →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2735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kWh wasted: baseline vs FirmGrid ON — 97% recovered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5848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257860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8BDF8"/>
                </a:solidFill>
                <a:latin typeface="Avenir Next"/>
              </a:rPr>
              <a:t>17 →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2735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transformer limit breaches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257860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BBF24"/>
                </a:solidFill>
                <a:latin typeface="Avenir Next"/>
              </a:rPr>
              <a:t>791,000 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2735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paid to households in one 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4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34856" y="2578608"/>
            <a:ext cx="23225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800" b="1" dirty="0">
                <a:solidFill>
                  <a:srgbClr val="34D399"/>
                </a:solidFill>
                <a:latin typeface="Avenir Next"/>
              </a:rPr>
              <a:t>86%</a:t>
            </a:r>
            <a:endParaRPr sz="2800" b="1" dirty="0">
              <a:solidFill>
                <a:srgbClr val="34D399"/>
              </a:solidFill>
              <a:latin typeface="Avenir Nex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34856" y="32735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forecast skill, held-out days of real Hanoi weather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1106424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lang="en-US" sz="1500" b="1" dirty="0">
                <a:solidFill>
                  <a:srgbClr val="E2E8F0"/>
                </a:solidFill>
                <a:latin typeface="Avenir Next"/>
              </a:rPr>
              <a:t>Safer AND less wasteful: </a:t>
            </a:r>
            <a:r>
              <a:rPr lang="en-US" sz="1500" dirty="0">
                <a:solidFill>
                  <a:srgbClr val="E2E8F0"/>
                </a:solidFill>
                <a:latin typeface="Avenir Next"/>
              </a:rPr>
              <a:t>97% of curtailed energy recovered with zero limit breaches — the safety envelope holds even through a judge-made storm.</a:t>
            </a:r>
          </a:p>
          <a:p>
            <a:pPr>
              <a:spcAft>
                <a:spcPts val="900"/>
              </a:spcAft>
            </a:pPr>
            <a:r>
              <a:rPr lang="en-US"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lang="en-US" sz="1500" b="1" dirty="0">
                <a:solidFill>
                  <a:srgbClr val="E2E8F0"/>
                </a:solidFill>
                <a:latin typeface="Avenir Next"/>
              </a:rPr>
              <a:t>Trust built in: </a:t>
            </a:r>
            <a:r>
              <a:rPr lang="en-US" sz="1500" dirty="0">
                <a:solidFill>
                  <a:srgbClr val="E2E8F0"/>
                </a:solidFill>
                <a:latin typeface="Avenir Next"/>
              </a:rPr>
              <a:t>fair queue (no home waits more than 1 window) · inflated bids blocked before money moves · every payment hash-chain audited.</a:t>
            </a:r>
          </a:p>
          <a:p>
            <a:pPr>
              <a:spcAft>
                <a:spcPts val="900"/>
              </a:spcAft>
            </a:pPr>
            <a:r>
              <a:rPr lang="en-US"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lang="en-US" sz="1500" b="1" dirty="0">
                <a:solidFill>
                  <a:srgbClr val="E2E8F0"/>
                </a:solidFill>
                <a:latin typeface="Avenir Next"/>
              </a:rPr>
              <a:t>Honest by design: </a:t>
            </a:r>
            <a:r>
              <a:rPr lang="en-US" sz="1500" dirty="0">
                <a:solidFill>
                  <a:srgbClr val="E2E8F0"/>
                </a:solidFill>
                <a:latin typeface="Avenir Next"/>
              </a:rPr>
              <a:t>real Hanoi weather, held-out metrics on screen, every decision explained in one sentence.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B5340C-EA0B-AAF6-AC69-12CB35A1DB35}"/>
              </a:ext>
            </a:extLst>
          </p:cNvPr>
          <p:cNvSpPr txBox="1"/>
          <p:nvPr/>
        </p:nvSpPr>
        <p:spPr>
          <a:xfrm>
            <a:off x="10977372" y="617092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E2E8F0"/>
                </a:solidFill>
                <a:latin typeface="Avenir Next"/>
              </a:rPr>
              <a:t>Four clocks started ticking </a:t>
            </a:r>
            <a:r>
              <a:rPr lang="en-US" sz="3200" b="1" dirty="0">
                <a:solidFill>
                  <a:srgbClr val="E2E8F0"/>
                </a:solidFill>
                <a:latin typeface="Avenir Next"/>
              </a:rPr>
              <a:t>NOW</a:t>
            </a:r>
            <a:endParaRPr sz="3200" b="1" dirty="0">
              <a:solidFill>
                <a:srgbClr val="E2E8F0"/>
              </a:solidFill>
              <a:latin typeface="Avenir Nex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260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1 Jul 2026 — Hanoi LEZ is live: 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450,000 petrol bikes to replace; charging habits </a:t>
            </a:r>
            <a:r>
              <a:rPr sz="1600" b="0" dirty="0" err="1">
                <a:solidFill>
                  <a:srgbClr val="E2E8F0"/>
                </a:solidFill>
                <a:latin typeface="Avenir Next"/>
              </a:rPr>
              <a:t>crystallise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 in the next 24 months — retrofitting coordination later is far harder.</a:t>
            </a:r>
          </a:p>
          <a:p>
            <a:pPr algn="l">
              <a:spcAft>
                <a:spcPts val="14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26 Jun 2026 — surplus-sale cap 20% → 50%: 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sellable rooftop energy doubled overnight; the same constrained transformers must now allocate it.</a:t>
            </a:r>
          </a:p>
          <a:p>
            <a:pPr algn="l">
              <a:spcAft>
                <a:spcPts val="14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Jan 2026 — data-</a:t>
            </a:r>
            <a:r>
              <a:rPr sz="1600" b="1" dirty="0" err="1">
                <a:solidFill>
                  <a:srgbClr val="E2E8F0"/>
                </a:solidFill>
                <a:latin typeface="Avenir Next"/>
              </a:rPr>
              <a:t>localisation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 law: 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domestic data-</a:t>
            </a:r>
            <a:r>
              <a:rPr sz="1600" b="0" dirty="0" err="1">
                <a:solidFill>
                  <a:srgbClr val="E2E8F0"/>
                </a:solidFill>
                <a:latin typeface="Avenir Next"/>
              </a:rPr>
              <a:t>centre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 build-out accelerates (735 MW → ~1,500 MW by 2030), mandated ≥50% green — buyers for firm clean blocks.</a:t>
            </a:r>
          </a:p>
          <a:p>
            <a:pPr algn="l">
              <a:spcAft>
                <a:spcPts val="14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2030–2035 — earliest nuclear</a:t>
            </a:r>
            <a:r>
              <a:rPr lang="en-US" sz="1600" b="1" dirty="0">
                <a:solidFill>
                  <a:srgbClr val="E2E8F0"/>
                </a:solidFill>
                <a:latin typeface="Avenir Next"/>
              </a:rPr>
              <a:t>: 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the firm-power gap until then is ours to fill; PDP8's 10–16 GW of storage takes years and billions — software ships in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Avenir Next"/>
              </a:rPr>
              <a:t>Every quarter of delay = curtailed GWh gone forever and charging habits locked onto coal.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1CC29-F2AD-6A54-ED7E-BFC147325212}"/>
              </a:ext>
            </a:extLst>
          </p:cNvPr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WRAP UP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82496"/>
            <a:ext cx="859536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15–19 GWh/yr + 26–40 kt CO₂/yr at Hanoi scale </a:t>
            </a:r>
            <a:r>
              <a:rPr lang="en-US" sz="1350" b="0" dirty="0">
                <a:solidFill>
                  <a:srgbClr val="E2E8F0"/>
                </a:solidFill>
                <a:latin typeface="Avenir Next"/>
              </a:rPr>
              <a:t>–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 </a:t>
            </a:r>
            <a:r>
              <a:rPr lang="en-US" sz="1350" dirty="0">
                <a:solidFill>
                  <a:srgbClr val="E2E8F0"/>
                </a:solidFill>
                <a:latin typeface="Avenir Next"/>
              </a:rPr>
              <a:t>the current scale we are testing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00837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Avenir Next"/>
              </a:rPr>
              <a:t>MARKET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08376"/>
            <a:ext cx="859536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Regulation-native: EVN stays sole buyer, stations join via DPPA, VND-only settlement. Ships without new law </a:t>
            </a:r>
            <a:r>
              <a:rPr lang="en-US" sz="1350" dirty="0">
                <a:solidFill>
                  <a:srgbClr val="E2E8F0"/>
                </a:solidFill>
                <a:latin typeface="Avenir Next"/>
              </a:rPr>
              <a:t>-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 pilot-ready with EVNHANOI Q3 2026, first firm DPPA block H2 2027.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3425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Avenir Next"/>
              </a:rPr>
              <a:t>USP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34256"/>
            <a:ext cx="8595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The only platform that predicts congestion before it happens, allocates headroom fairly, and turns mobility batteries into the grid's sponge.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907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A rooftop in Tay Ho charges a Grab driver's battery at noon — morning sunshine becomes the clean ride home tonight.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94A3B8"/>
                </a:solidFill>
                <a:latin typeface="Avenir Next"/>
              </a:rPr>
              <a:t>⚡ </a:t>
            </a:r>
            <a:r>
              <a:rPr sz="1600" b="0" dirty="0" err="1">
                <a:solidFill>
                  <a:srgbClr val="94A3B8"/>
                </a:solidFill>
                <a:latin typeface="Avenir Next"/>
              </a:rPr>
              <a:t>FirmGrid</a:t>
            </a:r>
            <a:r>
              <a:rPr sz="1600" b="0" dirty="0">
                <a:solidFill>
                  <a:srgbClr val="94A3B8"/>
                </a:solidFill>
                <a:latin typeface="Avenir Next"/>
              </a:rPr>
              <a:t> · </a:t>
            </a:r>
            <a:r>
              <a:rPr lang="en-US" sz="1600" dirty="0">
                <a:solidFill>
                  <a:srgbClr val="94A3B8"/>
                </a:solidFill>
                <a:latin typeface="Avenir Next"/>
              </a:rPr>
              <a:t>The Broke Three</a:t>
            </a:r>
            <a:endParaRPr sz="1600" b="0" dirty="0">
              <a:solidFill>
                <a:srgbClr val="94A3B8"/>
              </a:solidFill>
              <a:latin typeface="Avenir Nex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9476C8-F002-DF9F-0CF4-52BA3CA5FF8D}"/>
              </a:ext>
            </a:extLst>
          </p:cNvPr>
          <p:cNvSpPr txBox="1"/>
          <p:nvPr/>
        </p:nvSpPr>
        <p:spPr>
          <a:xfrm>
            <a:off x="10957255" y="6446520"/>
            <a:ext cx="9601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VN" sz="1100" b="0" dirty="0">
                <a:solidFill>
                  <a:srgbClr val="94A3B8"/>
                </a:solidFill>
                <a:latin typeface="Avenir Next"/>
              </a:rPr>
              <a:t>7</a:t>
            </a:r>
            <a:r>
              <a:rPr sz="1100" b="0" dirty="0">
                <a:solidFill>
                  <a:srgbClr val="94A3B8"/>
                </a:solidFill>
                <a:latin typeface="Avenir Next"/>
              </a:rPr>
              <a:t> / 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E25120-7439-C1FD-BD22-127F70C05DA5}"/>
              </a:ext>
            </a:extLst>
          </p:cNvPr>
          <p:cNvSpPr txBox="1"/>
          <p:nvPr/>
        </p:nvSpPr>
        <p:spPr>
          <a:xfrm>
            <a:off x="548640" y="658368"/>
            <a:ext cx="11064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200" b="1" dirty="0">
                <a:solidFill>
                  <a:srgbClr val="E2E8F0"/>
                </a:solidFill>
                <a:latin typeface="Avenir Next"/>
              </a:rPr>
              <a:t>Final points</a:t>
            </a:r>
            <a:endParaRPr sz="3200" b="1" dirty="0">
              <a:solidFill>
                <a:srgbClr val="E2E8F0"/>
              </a:solidFill>
              <a:latin typeface="Avenir N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1424</Words>
  <Application>Microsoft Macintosh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 Next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Ethan Nguyen</cp:lastModifiedBy>
  <cp:revision>5</cp:revision>
  <dcterms:created xsi:type="dcterms:W3CDTF">2013-01-27T09:14:16Z</dcterms:created>
  <dcterms:modified xsi:type="dcterms:W3CDTF">2026-07-03T23:14:42Z</dcterms:modified>
  <cp:category/>
</cp:coreProperties>
</file>