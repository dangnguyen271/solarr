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548640"/>
            <a:ext cx="2011680" cy="2011680"/>
          </a:xfrm>
          <a:prstGeom prst="ellipse">
            <a:avLst/>
          </a:prstGeom>
          <a:solidFill>
            <a:srgbClr val="F4B7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2743200"/>
            <a:ext cx="182880" cy="1645920"/>
          </a:xfrm>
          <a:prstGeom prst="rect">
            <a:avLst/>
          </a:prstGeom>
          <a:solidFill>
            <a:srgbClr val="F4B7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651760"/>
            <a:ext cx="10972800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6400" b="1">
                <a:solidFill>
                  <a:srgbClr val="FFFFFF"/>
                </a:solidFill>
                <a:latin typeface="Calibri"/>
              </a:rPr>
              <a:t>SolarFlow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49039"/>
            <a:ext cx="109728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400" b="0">
                <a:solidFill>
                  <a:srgbClr val="F4B71A"/>
                </a:solidFill>
                <a:latin typeface="Calibri"/>
              </a:rPr>
              <a:t>AI-Powered Decentralized Marketplace for Rooftop Solar Buyback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48056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Calibri"/>
              </a:rPr>
              <a:t>Closing Vietnam's morning-waste / evening-shortage gap.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85216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F2F4F7"/>
                </a:solidFill>
                <a:latin typeface="Calibri"/>
              </a:rPr>
              <a:t>Asian Hackathon for Green Future 2026  ·  Track 1: Future Energy Systems &amp; Green Mobility  ·  VinUniversity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The Paradox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09728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200" b="1">
                <a:solidFill>
                  <a:srgbClr val="0B1F3A"/>
                </a:solidFill>
                <a:latin typeface="Calibri"/>
              </a:rPr>
              <a:t>19 GW of rooftop solar — and Vietnam still burns coal every evening.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94560"/>
            <a:ext cx="5486400" cy="384048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194560"/>
            <a:ext cx="5486400" cy="457200"/>
          </a:xfrm>
          <a:prstGeom prst="rect">
            <a:avLst/>
          </a:prstGeom>
          <a:solidFill>
            <a:srgbClr val="F4B7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240280"/>
            <a:ext cx="54864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Calibri"/>
              </a:rPr>
              <a:t>MIDDAY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88920"/>
            <a:ext cx="512064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0B1F3A"/>
                </a:solidFill>
                <a:latin typeface="Calibri"/>
              </a:rPr>
              <a:t>Rooftops overflowing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383280"/>
            <a:ext cx="5120640" cy="2560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  <a:latin typeface="Calibri"/>
              </a:rPr>
              <a:t>• Generation peaks while demand drops</a:t>
            </a:r>
          </a:p>
          <a:p>
            <a:pPr algn="l"/>
            <a:r>
              <a:rPr sz="1500" b="0">
                <a:solidFill>
                  <a:srgbClr val="1A1A1A"/>
                </a:solidFill>
                <a:latin typeface="Calibri"/>
              </a:rPr>
              <a:t>• Transformers saturate on reverse flow</a:t>
            </a:r>
          </a:p>
          <a:p>
            <a:pPr algn="l"/>
            <a:r>
              <a:rPr sz="1500" b="0">
                <a:solidFill>
                  <a:srgbClr val="1A1A1A"/>
                </a:solidFill>
                <a:latin typeface="Calibri"/>
              </a:rPr>
              <a:t>• EVN curtails entire feeders</a:t>
            </a:r>
          </a:p>
          <a:p>
            <a:pPr algn="l"/>
            <a:r>
              <a:rPr sz="1500" b="0">
                <a:solidFill>
                  <a:srgbClr val="1A1A1A"/>
                </a:solidFill>
                <a:latin typeface="Calibri"/>
              </a:rPr>
              <a:t>• Free, clean energy thrown away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45352" y="2194560"/>
            <a:ext cx="5486400" cy="384048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45352" y="2194560"/>
            <a:ext cx="5486400" cy="457200"/>
          </a:xfrm>
          <a:prstGeom prst="rect">
            <a:avLst/>
          </a:prstGeom>
          <a:solidFill>
            <a:srgbClr val="D4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28232" y="2240280"/>
            <a:ext cx="54864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EVENING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8232" y="2788920"/>
            <a:ext cx="512064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0B1F3A"/>
                </a:solidFill>
                <a:latin typeface="Calibri"/>
              </a:rPr>
              <a:t>Households powerless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8232" y="3383280"/>
            <a:ext cx="5120640" cy="2560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  <a:latin typeface="Calibri"/>
              </a:rPr>
              <a:t>• Solar generation collapses at sunset</a:t>
            </a:r>
          </a:p>
          <a:p>
            <a:pPr algn="l"/>
            <a:r>
              <a:rPr sz="1500" b="0">
                <a:solidFill>
                  <a:srgbClr val="1A1A1A"/>
                </a:solidFill>
                <a:latin typeface="Calibri"/>
              </a:rPr>
              <a:t>• Lights, AC, cooking all switch on</a:t>
            </a:r>
          </a:p>
          <a:p>
            <a:pPr algn="l"/>
            <a:r>
              <a:rPr sz="1500" b="0">
                <a:solidFill>
                  <a:srgbClr val="1A1A1A"/>
                </a:solidFill>
                <a:latin typeface="Calibri"/>
              </a:rPr>
              <a:t>• Coal &amp; gas plants ramp up to fill the gap</a:t>
            </a:r>
          </a:p>
          <a:p>
            <a:pPr algn="l"/>
            <a:r>
              <a:rPr sz="1500" b="0">
                <a:solidFill>
                  <a:srgbClr val="1A1A1A"/>
                </a:solidFill>
                <a:latin typeface="Calibri"/>
              </a:rPr>
              <a:t>• Families can't use a single watt of their own panels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172200"/>
            <a:ext cx="1124712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600" b="1">
                <a:solidFill>
                  <a:srgbClr val="D43F3F"/>
                </a:solidFill>
                <a:latin typeface="Calibri"/>
              </a:rPr>
              <a:t>Clean energy thrown away in the morning.  Dirty energy burned at night.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6647688"/>
            <a:ext cx="73152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SolarFlow  ·  AI-Powered Decentralized Marketplace for Rooftop Solar Buyback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647688"/>
            <a:ext cx="13716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2 /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Why the Grid Can't Absorb the Sun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137160" cy="1371600"/>
          </a:xfrm>
          <a:prstGeom prst="rect">
            <a:avLst/>
          </a:prstGeom>
          <a:solidFill>
            <a:srgbClr val="F4B7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63040"/>
            <a:ext cx="109728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0B1F3A"/>
                </a:solidFill>
                <a:latin typeface="Calibri"/>
              </a:rPr>
              <a:t>1.  Curtailment is blunt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011680"/>
            <a:ext cx="1078992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  <a:latin typeface="Calibri"/>
              </a:rPr>
              <a:t>EVN cuts whole feeders at once. No visibility into which homes should reduce and which can keep exporting.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017520"/>
            <a:ext cx="137160" cy="1371600"/>
          </a:xfrm>
          <a:prstGeom prst="rect">
            <a:avLst/>
          </a:prstGeom>
          <a:solidFill>
            <a:srgbClr val="F4B7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017520"/>
            <a:ext cx="109728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0B1F3A"/>
                </a:solidFill>
                <a:latin typeface="Calibri"/>
              </a:rPr>
              <a:t>2.  Households have no agency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566160"/>
            <a:ext cx="1078992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  <a:latin typeface="Calibri"/>
              </a:rPr>
              <a:t>Vietnam just raised the sell-back cap from 20% to 50% (Jun 2026) — but households still can't bid, see acceptance, or verify payments.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572000"/>
            <a:ext cx="137160" cy="1371600"/>
          </a:xfrm>
          <a:prstGeom prst="rect">
            <a:avLst/>
          </a:prstGeom>
          <a:solidFill>
            <a:srgbClr val="F4B7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4572000"/>
            <a:ext cx="109728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0B1F3A"/>
                </a:solidFill>
                <a:latin typeface="Calibri"/>
              </a:rPr>
              <a:t>3.  The intelligence layer is missing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120640"/>
            <a:ext cx="1078992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  <a:latin typeface="Calibri"/>
              </a:rPr>
              <a:t>Weather, transformer load, irradiance, and consumption data sit in disconnected silos. Nothing fuses them into a forecast.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217920"/>
            <a:ext cx="1124712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1">
                <a:solidFill>
                  <a:srgbClr val="556070"/>
                </a:solidFill>
                <a:latin typeface="Calibri"/>
              </a:rPr>
              <a:t>Cost: gigawatt-hours of trapped clean energy, frustrated prosumers, and continued coal dependence at night.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6647688"/>
            <a:ext cx="73152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SolarFlow  ·  AI-Powered Decentralized Marketplace for Rooftop Solar Buyback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0" y="6647688"/>
            <a:ext cx="13716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3 /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The SolarFlow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0B1F3A"/>
                </a:solidFill>
                <a:latin typeface="Calibri"/>
              </a:rPr>
              <a:t>Two coordinated layers. AI decides what should happen. Blockchain proves what did.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011680"/>
            <a:ext cx="5486400" cy="41148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011680"/>
            <a:ext cx="5486400" cy="548640"/>
          </a:xfrm>
          <a:prstGeom prst="rect">
            <a:avLst/>
          </a:prstGeom>
          <a:solidFill>
            <a:srgbClr val="1AA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084831"/>
            <a:ext cx="512064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LAYER 1  ·  GridMind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97480"/>
            <a:ext cx="512064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200" b="1">
                <a:solidFill>
                  <a:srgbClr val="0B1F3A"/>
                </a:solidFill>
                <a:latin typeface="Calibri"/>
              </a:rPr>
              <a:t>Intelligence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246120"/>
            <a:ext cx="5120640" cy="2743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• Transformer congestion forecaster (15–60 min ahead)</a:t>
            </a:r>
          </a:p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• Household surplus predictor (LSTM)</a:t>
            </a:r>
          </a:p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• Bid advisor — suggests a fair price in VND/kWh</a:t>
            </a:r>
          </a:p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• Multi-objective auction optimizer (MILP)</a:t>
            </a:r>
          </a:p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• Fraud detection on unrealistic bids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45352" y="2011680"/>
            <a:ext cx="5486400" cy="41148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45352" y="2011680"/>
            <a:ext cx="5486400" cy="548640"/>
          </a:xfrm>
          <a:prstGeom prst="rect">
            <a:avLst/>
          </a:prstGeom>
          <a:solidFill>
            <a:srgbClr val="F4B7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28232" y="2084831"/>
            <a:ext cx="512064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>
                <a:solidFill>
                  <a:srgbClr val="0B1F3A"/>
                </a:solidFill>
                <a:latin typeface="Calibri"/>
              </a:rPr>
              <a:t>LAYER 2  ·  Blockchain Settlement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8232" y="2697480"/>
            <a:ext cx="512064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200" b="1">
                <a:solidFill>
                  <a:srgbClr val="0B1F3A"/>
                </a:solidFill>
                <a:latin typeface="Calibri"/>
              </a:rPr>
              <a:t>Trust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8232" y="3246120"/>
            <a:ext cx="5120640" cy="2743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• Accepted bids committed to smart contract</a:t>
            </a:r>
          </a:p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• Smart-meter data verifies actual delivery</a:t>
            </a:r>
          </a:p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• Auto-settlement in VND-pegged tokens / bank transfer</a:t>
            </a:r>
          </a:p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• Hyperledger Fabric (operators) + Polygon (public)</a:t>
            </a:r>
          </a:p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• Auditable by households, EVN, and regulators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6647688"/>
            <a:ext cx="73152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SolarFlow  ·  AI-Powered Decentralized Marketplace for Rooftop Solar Buyback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647688"/>
            <a:ext cx="13716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4 /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End-to-End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286000"/>
            <a:ext cx="2560320" cy="219456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2560320" cy="457200"/>
          </a:xfrm>
          <a:prstGeom prst="rect">
            <a:avLst/>
          </a:prstGeom>
          <a:solidFill>
            <a:srgbClr val="1AA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359152"/>
            <a:ext cx="2377439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600" b="1">
                <a:solidFill>
                  <a:srgbClr val="0B1F3A"/>
                </a:solidFill>
                <a:latin typeface="Calibri"/>
              </a:rPr>
              <a:t>Smart Meters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926080"/>
            <a:ext cx="2286000" cy="1463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0">
                <a:solidFill>
                  <a:srgbClr val="1A1A1A"/>
                </a:solidFill>
                <a:latin typeface="Calibri"/>
              </a:rPr>
              <a:t>Real-time household generation &amp; consumption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017520" y="3246120"/>
            <a:ext cx="228600" cy="274320"/>
          </a:xfrm>
          <a:prstGeom prst="rightArrow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46120" y="2286000"/>
            <a:ext cx="2560320" cy="219456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46120" y="2286000"/>
            <a:ext cx="2560320" cy="457200"/>
          </a:xfrm>
          <a:prstGeom prst="rect">
            <a:avLst/>
          </a:prstGeom>
          <a:solidFill>
            <a:srgbClr val="F4B7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37560" y="2359152"/>
            <a:ext cx="2377439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600" b="1">
                <a:solidFill>
                  <a:srgbClr val="0B1F3A"/>
                </a:solidFill>
                <a:latin typeface="Calibri"/>
              </a:rPr>
              <a:t>GridMind 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79" y="2926080"/>
            <a:ext cx="2286000" cy="1463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0">
                <a:solidFill>
                  <a:srgbClr val="1A1A1A"/>
                </a:solidFill>
                <a:latin typeface="Calibri"/>
              </a:rPr>
              <a:t>Forecast + Auction Optimizer (MILP)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806440" y="3246120"/>
            <a:ext cx="228600" cy="274320"/>
          </a:xfrm>
          <a:prstGeom prst="rightArrow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35040" y="2286000"/>
            <a:ext cx="2560320" cy="219456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35040" y="2286000"/>
            <a:ext cx="2560320" cy="4572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79" y="2359152"/>
            <a:ext cx="2377439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Smart Contract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2926080"/>
            <a:ext cx="2286000" cy="1463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0">
                <a:solidFill>
                  <a:srgbClr val="1A1A1A"/>
                </a:solidFill>
                <a:latin typeface="Calibri"/>
              </a:rPr>
              <a:t>Hyperledger Fabric / Polygon settlement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8595359" y="3246120"/>
            <a:ext cx="228600" cy="274320"/>
          </a:xfrm>
          <a:prstGeom prst="rightArrow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823959" y="2286000"/>
            <a:ext cx="2560320" cy="219456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823959" y="2286000"/>
            <a:ext cx="2560320" cy="457200"/>
          </a:xfrm>
          <a:prstGeom prst="rect">
            <a:avLst/>
          </a:prstGeom>
          <a:solidFill>
            <a:srgbClr val="1AA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15399" y="2359152"/>
            <a:ext cx="2377439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600" b="1">
                <a:solidFill>
                  <a:srgbClr val="0B1F3A"/>
                </a:solidFill>
                <a:latin typeface="Calibri"/>
              </a:rPr>
              <a:t>Apps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19" y="2926080"/>
            <a:ext cx="2286000" cy="1463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0">
                <a:solidFill>
                  <a:srgbClr val="1A1A1A"/>
                </a:solidFill>
                <a:latin typeface="Calibri"/>
              </a:rPr>
              <a:t>React Native (HH) + Next.js Operator Dashboard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937760"/>
            <a:ext cx="1124712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0B1F3A"/>
                </a:solidFill>
                <a:latin typeface="Calibri"/>
              </a:rPr>
              <a:t>Models &amp; Stack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5440680"/>
            <a:ext cx="11247120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• Forecasting: XGBoost (congestion classification) + LSTM (household surplus)</a:t>
            </a:r>
          </a:p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• Optimization: constrained MILP — price · reliability · fairness · grid-safety · surplus-confidence</a:t>
            </a:r>
          </a:p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• Training data: 12 months synthetic VN distribution data, calibrated to EVN + Open-Meteo</a:t>
            </a:r>
          </a:p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• Open source (Apache 2.0)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6647688"/>
            <a:ext cx="73152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SolarFlow  ·  AI-Powered Decentralized Marketplace for Rooftop Solar Buyback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0" y="6647688"/>
            <a:ext cx="13716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5 /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What Makes SolarFlow Different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3657600" cy="475488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3657600" cy="137160"/>
          </a:xfrm>
          <a:prstGeom prst="rect">
            <a:avLst/>
          </a:prstGeom>
          <a:solidFill>
            <a:srgbClr val="F4B7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3108960" cy="1463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200" b="1">
                <a:solidFill>
                  <a:srgbClr val="0B1F3A"/>
                </a:solidFill>
                <a:latin typeface="Calibri"/>
              </a:rPr>
              <a:t>Predictive,</a:t>
            </a:r>
          </a:p>
          <a:p>
            <a:pPr algn="l"/>
            <a:r>
              <a:rPr sz="2200" b="1">
                <a:solidFill>
                  <a:srgbClr val="0B1F3A"/>
                </a:solidFill>
                <a:latin typeface="Calibri"/>
              </a:rPr>
              <a:t>not reactive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3108960" cy="23774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EVN cuts after congestion. GridMind acts 15–60 min ahead — reducing only the minimum needed.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1960" y="1463040"/>
            <a:ext cx="3657600" cy="475488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1960" y="1463040"/>
            <a:ext cx="3657600" cy="137160"/>
          </a:xfrm>
          <a:prstGeom prst="rect">
            <a:avLst/>
          </a:prstGeom>
          <a:solidFill>
            <a:srgbClr val="F4B7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920240"/>
            <a:ext cx="3108960" cy="1463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200" b="1">
                <a:solidFill>
                  <a:srgbClr val="0B1F3A"/>
                </a:solidFill>
                <a:latin typeface="Calibri"/>
              </a:rPr>
              <a:t>Fair, transparent</a:t>
            </a:r>
          </a:p>
          <a:p>
            <a:pPr algn="l"/>
            <a:r>
              <a:rPr sz="2200" b="1">
                <a:solidFill>
                  <a:srgbClr val="0B1F3A"/>
                </a:solidFill>
                <a:latin typeface="Calibri"/>
              </a:rPr>
              <a:t>prosumer market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3657600"/>
            <a:ext cx="3108960" cy="23774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Households go from passive flat-tariff recipients to active bidders paid on verifiable delivery.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20" y="1463040"/>
            <a:ext cx="3657600" cy="475488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463040"/>
            <a:ext cx="3657600" cy="137160"/>
          </a:xfrm>
          <a:prstGeom prst="rect">
            <a:avLst/>
          </a:prstGeom>
          <a:solidFill>
            <a:srgbClr val="F4B7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1920240"/>
            <a:ext cx="3108960" cy="1463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200" b="1">
                <a:solidFill>
                  <a:srgbClr val="0B1F3A"/>
                </a:solidFill>
                <a:latin typeface="Calibri"/>
              </a:rPr>
              <a:t>Principled AI +</a:t>
            </a:r>
          </a:p>
          <a:p>
            <a:pPr algn="l"/>
            <a:r>
              <a:rPr sz="2200" b="1">
                <a:solidFill>
                  <a:srgbClr val="0B1F3A"/>
                </a:solidFill>
                <a:latin typeface="Calibri"/>
              </a:rPr>
              <a:t>Blockchain split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3657600"/>
            <a:ext cx="3108960" cy="23774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AI decides what should happen. Blockchain proves what did. No superficial pairing.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6647688"/>
            <a:ext cx="73152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SolarFlow  ·  AI-Powered Decentralized Marketplace for Rooftop Solar Buyback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647688"/>
            <a:ext cx="13716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6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Social Impact &amp; Scalability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3657600" cy="27432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3291840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4400" b="1">
                <a:solidFill>
                  <a:srgbClr val="F4B71A"/>
                </a:solidFill>
                <a:latin typeface="Calibri"/>
              </a:rPr>
              <a:t>2 TWh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108960"/>
            <a:ext cx="3291840" cy="914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Clean energy recovered per year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(at 30% curtailment reduction on 19 GW fleet)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1960" y="1463040"/>
            <a:ext cx="3657600" cy="27432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34840" y="1828800"/>
            <a:ext cx="3291840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4400" b="1">
                <a:solidFill>
                  <a:srgbClr val="F4B71A"/>
                </a:solidFill>
                <a:latin typeface="Calibri"/>
              </a:rPr>
              <a:t>1.36M 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840" y="3108960"/>
            <a:ext cx="3291840" cy="914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CO₂ avoided annually by displacing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coal-fired evening generation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0" y="1463040"/>
            <a:ext cx="3657600" cy="27432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828800"/>
            <a:ext cx="3291840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4400" b="1">
                <a:solidFill>
                  <a:srgbClr val="F4B71A"/>
                </a:solidFill>
                <a:latin typeface="Calibri"/>
              </a:rPr>
              <a:t>1.2–2.5M VND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3108960"/>
            <a:ext cx="3291840" cy="914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Extra annual income for a typical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5 kW Vietnamese rooftop owner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572000"/>
            <a:ext cx="1124712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0B1F3A"/>
                </a:solidFill>
                <a:latin typeface="Calibri"/>
              </a:rPr>
              <a:t>Beyond Vietnam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029200"/>
            <a:ext cx="11247120" cy="1463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• Grid resilience: predictive congestion mgmt defers tens of $M of EVN upgrade spend</a:t>
            </a:r>
          </a:p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• Pan-Asian: Thailand, Indonesia, the Philippines hit the same curtailment wall within 5 years</a:t>
            </a:r>
          </a:p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• Architected for localization — new currencies, tariffs, and grid codes without re-architecture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6647688"/>
            <a:ext cx="73152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SolarFlow  ·  AI-Powered Decentralized Marketplace for Rooftop Solar Buyback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647688"/>
            <a:ext cx="13716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7 /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1280160"/>
            <a:ext cx="182880" cy="1645920"/>
          </a:xfrm>
          <a:prstGeom prst="rect">
            <a:avLst/>
          </a:prstGeom>
          <a:solidFill>
            <a:srgbClr val="F4B7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188720"/>
            <a:ext cx="10972800" cy="914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Don't waste the morning sun.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10972800" cy="914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400" b="1">
                <a:solidFill>
                  <a:srgbClr val="F4B71A"/>
                </a:solidFill>
                <a:latin typeface="Calibri"/>
              </a:rPr>
              <a:t>Don't burn the evening coal.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65760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>
                <a:solidFill>
                  <a:srgbClr val="F4B71A"/>
                </a:solidFill>
                <a:latin typeface="Calibri"/>
              </a:rPr>
              <a:t>Plan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023360"/>
            <a:ext cx="10972800" cy="1463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• Jun 2 – 28  ·  Online round: GridMind models, MILP auction, Polygon testnet contract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• Jul 2 – 5  ·  Final demo: 50-home Hanoi suburb, live congestion + auction + settlement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• Targets: F1 ≥ 0.90 on congestion, MAE &lt; 0.4 kWh on hourly household surplus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03504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F2F4F7"/>
                </a:solidFill>
                <a:latin typeface="Calibri"/>
              </a:rPr>
              <a:t>VinUniversity  ·  College of Engineering &amp; Computer Science  ·  Apache 2.0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F4B71A"/>
                </a:solidFill>
                <a:latin typeface="Calibri"/>
              </a:rPr>
              <a:t>Contact: ltsg.asc@gmail.com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