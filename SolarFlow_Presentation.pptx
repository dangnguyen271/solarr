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548640"/>
            <a:ext cx="2011680" cy="2011680"/>
          </a:xfrm>
          <a:prstGeom prst="ellipse">
            <a:avLst/>
          </a:prstGeom>
          <a:solidFill>
            <a:srgbClr val="F4B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43200"/>
            <a:ext cx="182880" cy="1645920"/>
          </a:xfrm>
          <a:prstGeom prst="rect">
            <a:avLst/>
          </a:prstGeom>
          <a:solidFill>
            <a:srgbClr val="F4B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Calibri"/>
              </a:rPr>
              <a:t>SolarFlow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972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0">
                <a:solidFill>
                  <a:srgbClr val="F4B71A"/>
                </a:solidFill>
                <a:latin typeface="Calibri"/>
              </a:rPr>
              <a:t>AI-Powered Decentralized Marketplace for Rooftop Solar Buyback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Closing Vietnam's morning-waste / evening-shortage gap.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F2F4F7"/>
                </a:solidFill>
                <a:latin typeface="Calibri"/>
              </a:rPr>
              <a:t>Asian Hackathon for Green Future 2026  ·  Track 1: Future Energy Systems &amp; Green Mobility  ·  VinUniversity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Paradox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Calibri"/>
              </a:rPr>
              <a:t>19 GW of rooftop solar — and Vietnam still burns coal every evening.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5486400" cy="38404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5486400" cy="457200"/>
          </a:xfrm>
          <a:prstGeom prst="rect">
            <a:avLst/>
          </a:prstGeom>
          <a:solidFill>
            <a:srgbClr val="F4B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Calibri"/>
              </a:rPr>
              <a:t>MIDDAY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512064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Calibri"/>
              </a:rPr>
              <a:t>Rooftops overflowing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512064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Generation peaks while demand drops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Transformers saturate on reverse flow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EVN curtails entire feeders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Free, clean energy thrown away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2194560"/>
            <a:ext cx="5486400" cy="38404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2194560"/>
            <a:ext cx="5486400" cy="457200"/>
          </a:xfrm>
          <a:prstGeom prst="rect">
            <a:avLst/>
          </a:prstGeom>
          <a:solidFill>
            <a:srgbClr val="D4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224028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EVENING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788920"/>
            <a:ext cx="512064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Calibri"/>
              </a:rPr>
              <a:t>Households powerless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3383280"/>
            <a:ext cx="512064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Solar generation collapses at sunset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Lights, AC, cooking all switch on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Coal &amp; gas plants ramp up to fill the gap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Families can't use a single watt of their own panels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600" b="1">
                <a:solidFill>
                  <a:srgbClr val="D43F3F"/>
                </a:solidFill>
                <a:latin typeface="Calibri"/>
              </a:rPr>
              <a:t>Clean energy thrown away in the morning.  Dirty energy burned at night.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647688"/>
            <a:ext cx="73152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SolarFlow  ·  AI-Powered Decentralized Marketplace for Rooftop Solar Buyback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647688"/>
            <a:ext cx="13716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Why the Grid Can't Absorb the Sun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37160" cy="1371600"/>
          </a:xfrm>
          <a:prstGeom prst="rect">
            <a:avLst/>
          </a:prstGeom>
          <a:solidFill>
            <a:srgbClr val="F4B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9728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Calibri"/>
              </a:rPr>
              <a:t>1.  Curtailment is blunt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1078992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EVN cuts whole feeders at once. No visibility into which homes should reduce and which can keep exporting.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017520"/>
            <a:ext cx="137160" cy="1371600"/>
          </a:xfrm>
          <a:prstGeom prst="rect">
            <a:avLst/>
          </a:prstGeom>
          <a:solidFill>
            <a:srgbClr val="F4B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109728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Calibri"/>
              </a:rPr>
              <a:t>2.  Households have no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66160"/>
            <a:ext cx="1078992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Decree 57 allows households to sell up to 20% of generation — but they can't bid, see acceptance, or verify payments.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572000"/>
            <a:ext cx="137160" cy="1371600"/>
          </a:xfrm>
          <a:prstGeom prst="rect">
            <a:avLst/>
          </a:prstGeom>
          <a:solidFill>
            <a:srgbClr val="F4B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572000"/>
            <a:ext cx="1097280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Calibri"/>
              </a:rPr>
              <a:t>3.  The intelligence layer is missing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120640"/>
            <a:ext cx="1078992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Weather, transformer load, irradiance, and consumption data sit in disconnected silos. Nothing fuses them into a forecast.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556070"/>
                </a:solidFill>
                <a:latin typeface="Calibri"/>
              </a:rPr>
              <a:t>Cost: gigawatt-hours of trapped clean energy, frustrated prosumers, and continued coal dependence at night.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647688"/>
            <a:ext cx="73152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SolarFlow  ·  AI-Powered Decentralized Marketplace for Rooftop Solar Buyback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647688"/>
            <a:ext cx="13716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SolarFlow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0B1F3A"/>
                </a:solidFill>
                <a:latin typeface="Calibri"/>
              </a:rPr>
              <a:t>Two coordinated layers. AI decides what should happen. Blockchain proves what did.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5486400" cy="41148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5486400" cy="548640"/>
          </a:xfrm>
          <a:prstGeom prst="rect">
            <a:avLst/>
          </a:prstGeom>
          <a:solidFill>
            <a:srgbClr val="1AA7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84831"/>
            <a:ext cx="51206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LAYER 1  ·  GridMind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Calibri"/>
              </a:rPr>
              <a:t>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46120"/>
            <a:ext cx="512064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• Transformer congestion forecaster (15–60 min ahead)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• Household surplus predictor (LSTM)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• Bid advisor — suggests a fair price in VND/kWh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• Multi-objective auction optimizer (MILP)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• Fraud detection on unrealistic bids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2011680"/>
            <a:ext cx="5486400" cy="41148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2011680"/>
            <a:ext cx="5486400" cy="548640"/>
          </a:xfrm>
          <a:prstGeom prst="rect">
            <a:avLst/>
          </a:prstGeom>
          <a:solidFill>
            <a:srgbClr val="F4B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2084831"/>
            <a:ext cx="51206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LAYER 2  ·  Blockchain Settlement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6974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Calibri"/>
              </a:rPr>
              <a:t>Trust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3246120"/>
            <a:ext cx="512064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• Accepted bids committed to smart contract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• Smart-meter data verifies actual delivery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• Auto-settlement in VND-pegged tokens / bank transfer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• Hyperledger Fabric (operators) + Polygon (public)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• Auditable by households, EVN, and regulators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647688"/>
            <a:ext cx="73152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SolarFlow  ·  AI-Powered Decentralized Marketplace for Rooftop Solar Buyback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47688"/>
            <a:ext cx="13716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End-to-End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2560320" cy="21945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solidFill>
            <a:srgbClr val="1AA7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59152"/>
            <a:ext cx="2377439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Calibri"/>
              </a:rPr>
              <a:t>Smart Meters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926080"/>
            <a:ext cx="22860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Real-time household generation &amp; consumption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17520" y="3246120"/>
            <a:ext cx="228600" cy="274320"/>
          </a:xfrm>
          <a:prstGeom prst="rightArrow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46120" y="2286000"/>
            <a:ext cx="2560320" cy="21945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6120" y="2286000"/>
            <a:ext cx="2560320" cy="457200"/>
          </a:xfrm>
          <a:prstGeom prst="rect">
            <a:avLst/>
          </a:prstGeom>
          <a:solidFill>
            <a:srgbClr val="F4B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2359152"/>
            <a:ext cx="2377439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Calibri"/>
              </a:rPr>
              <a:t>GridMind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79" y="2926080"/>
            <a:ext cx="22860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Forecast + Auction Optimizer (MILP)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806440" y="3246120"/>
            <a:ext cx="228600" cy="274320"/>
          </a:xfrm>
          <a:prstGeom prst="rightArrow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35040" y="2286000"/>
            <a:ext cx="2560320" cy="21945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35040" y="2286000"/>
            <a:ext cx="2560320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79" y="2359152"/>
            <a:ext cx="2377439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Smart Contract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926080"/>
            <a:ext cx="22860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Hyperledger Fabric / Polygon settlement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595359" y="3246120"/>
            <a:ext cx="228600" cy="274320"/>
          </a:xfrm>
          <a:prstGeom prst="rightArrow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23959" y="2286000"/>
            <a:ext cx="2560320" cy="21945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23959" y="2286000"/>
            <a:ext cx="2560320" cy="457200"/>
          </a:xfrm>
          <a:prstGeom prst="rect">
            <a:avLst/>
          </a:prstGeom>
          <a:solidFill>
            <a:srgbClr val="1AA7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5399" y="2359152"/>
            <a:ext cx="2377439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Calibri"/>
              </a:rPr>
              <a:t>Apps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19" y="2926080"/>
            <a:ext cx="22860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React Native (HH) + Next.js Operator 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Models &amp; 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440680"/>
            <a:ext cx="1124712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Forecasting: XGBoost (congestion classification) + LSTM (household surplus)</a:t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Optimization: constrained MILP — price · reliability · fairness · grid-safety · surplus-confidence</a:t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Training data: 12 months synthetic VN distribution data, calibrated to EVN + Open-Meteo</a:t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Open source (Apache 2.0)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647688"/>
            <a:ext cx="73152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SolarFlow  ·  AI-Powered Decentralized Marketplace for Rooftop Solar Buyback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647688"/>
            <a:ext cx="13716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Makes SolarFlow Different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657600" cy="47548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3657600" cy="137160"/>
          </a:xfrm>
          <a:prstGeom prst="rect">
            <a:avLst/>
          </a:prstGeom>
          <a:solidFill>
            <a:srgbClr val="F4B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310896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Calibri"/>
              </a:rPr>
              <a:t>Predictive,</a:t>
            </a:r>
          </a:p>
          <a:p>
            <a:pPr algn="l"/>
            <a:r>
              <a:rPr sz="2200" b="1">
                <a:solidFill>
                  <a:srgbClr val="0B1F3A"/>
                </a:solidFill>
                <a:latin typeface="Calibri"/>
              </a:rPr>
              <a:t>not reactive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310896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EVN cuts after congestion. GridMind acts 15–60 min ahead — reducing only the minimum needed.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463040"/>
            <a:ext cx="3657600" cy="47548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1463040"/>
            <a:ext cx="3657600" cy="137160"/>
          </a:xfrm>
          <a:prstGeom prst="rect">
            <a:avLst/>
          </a:prstGeom>
          <a:solidFill>
            <a:srgbClr val="F4B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920240"/>
            <a:ext cx="310896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Calibri"/>
              </a:rPr>
              <a:t>Fair, transparent</a:t>
            </a:r>
          </a:p>
          <a:p>
            <a:pPr algn="l"/>
            <a:r>
              <a:rPr sz="2200" b="1">
                <a:solidFill>
                  <a:srgbClr val="0B1F3A"/>
                </a:solidFill>
                <a:latin typeface="Calibri"/>
              </a:rPr>
              <a:t>prosumer 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657600"/>
            <a:ext cx="310896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Households go from passive flat-tariff recipients to active bidders paid on verifiable delivery.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463040"/>
            <a:ext cx="3657600" cy="47548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463040"/>
            <a:ext cx="3657600" cy="137160"/>
          </a:xfrm>
          <a:prstGeom prst="rect">
            <a:avLst/>
          </a:prstGeom>
          <a:solidFill>
            <a:srgbClr val="F4B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920240"/>
            <a:ext cx="310896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Calibri"/>
              </a:rPr>
              <a:t>Principled AI +</a:t>
            </a:r>
          </a:p>
          <a:p>
            <a:pPr algn="l"/>
            <a:r>
              <a:rPr sz="2200" b="1">
                <a:solidFill>
                  <a:srgbClr val="0B1F3A"/>
                </a:solidFill>
                <a:latin typeface="Calibri"/>
              </a:rPr>
              <a:t>Blockchain split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657600"/>
            <a:ext cx="310896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AI decides what should happen. Blockchain proves what did. No superficial pairing.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647688"/>
            <a:ext cx="73152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SolarFlow  ·  AI-Powered Decentralized Marketplace for Rooftop Solar Buyback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647688"/>
            <a:ext cx="13716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Social Impact &amp; Scalability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657600" cy="2743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9184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400" b="1">
                <a:solidFill>
                  <a:srgbClr val="F4B71A"/>
                </a:solidFill>
                <a:latin typeface="Calibri"/>
              </a:rPr>
              <a:t>2 TWh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329184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Clean energy recovered per year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(at 30% curtailment reduction on 19 GW fleet)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1463040"/>
            <a:ext cx="3657600" cy="2743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828800"/>
            <a:ext cx="329184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400" b="1">
                <a:solidFill>
                  <a:srgbClr val="F4B71A"/>
                </a:solidFill>
                <a:latin typeface="Calibri"/>
              </a:rPr>
              <a:t>800,000 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108960"/>
            <a:ext cx="329184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CO₂ avoided annually by displacing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coal-fired evening generation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657600" cy="2743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828800"/>
            <a:ext cx="329184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400" b="1">
                <a:solidFill>
                  <a:srgbClr val="F4B71A"/>
                </a:solidFill>
                <a:latin typeface="Calibri"/>
              </a:rPr>
              <a:t>1.2–2.5M VND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108960"/>
            <a:ext cx="329184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Extra annual income for a typical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5 kW Vietnamese rooftop owner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Calibri"/>
              </a:rPr>
              <a:t>Beyond Vietnam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• Grid resilience: predictive congestion mgmt defers tens of $M of EVN upgrade spend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• Pan-Asian: Thailand, Indonesia, the Philippines hit the same curtailment wall within 5 years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• Architected for localization — new currencies, tariffs, and grid codes without re-architecture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647688"/>
            <a:ext cx="73152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SolarFlow  ·  AI-Powered Decentralized Marketplace for Rooftop Solar Buyback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47688"/>
            <a:ext cx="13716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280160"/>
            <a:ext cx="182880" cy="1645920"/>
          </a:xfrm>
          <a:prstGeom prst="rect">
            <a:avLst/>
          </a:prstGeom>
          <a:solidFill>
            <a:srgbClr val="F4B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97280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Don't waste the morning sun.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97280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400" b="1">
                <a:solidFill>
                  <a:srgbClr val="F4B71A"/>
                </a:solidFill>
                <a:latin typeface="Calibri"/>
              </a:rPr>
              <a:t>Don't burn the evening coal.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F4B71A"/>
                </a:solidFill>
                <a:latin typeface="Calibri"/>
              </a:rPr>
              <a:t>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23360"/>
            <a:ext cx="109728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Jun 2 – 28  ·  Online round: GridMind models, MILP auction, Polygon testnet contract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Jul 2 – 5  ·  Final demo: 50-home Hanoi suburb, live congestion + auction + settlement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Targets: F1 ≥ 0.90 on congestion, MAE &lt; 0.4 kWh on hourly household surplus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F2F4F7"/>
                </a:solidFill>
                <a:latin typeface="Calibri"/>
              </a:rPr>
              <a:t>VinUniversity  ·  College of Engineering &amp; Computer Science  ·  Apache 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F4B71A"/>
                </a:solidFill>
                <a:latin typeface="Calibri"/>
              </a:rPr>
              <a:t>Contact: ltsg.asc@gmail.com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