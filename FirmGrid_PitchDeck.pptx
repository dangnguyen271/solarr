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Data-centre power (MW)</c:v>
                </c:pt>
              </c:strCache>
            </c:strRef>
          </c:tx>
          <c:spPr>
            <a:solidFill>
              <a:srgbClr val="2ED2E6"/>
            </a:solidFill>
            <a:ln w="50800" cap="flat">
              <a:solidFill>
                <a:srgbClr val="2ED2E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D2E6"/>
              </a:solidFill>
              <a:ln w="9525" cap="flat">
                <a:solidFill>
                  <a:srgbClr val="2ED2E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735</c:v>
                </c:pt>
                <c:pt idx="1">
                  <c:v>852</c:v>
                </c:pt>
                <c:pt idx="2">
                  <c:v>988</c:v>
                </c:pt>
                <c:pt idx="3">
                  <c:v>1147</c:v>
                </c:pt>
                <c:pt idx="4">
                  <c:v>1330</c:v>
                </c:pt>
                <c:pt idx="5">
                  <c:v>1543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86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234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8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25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8BD34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5120640"/>
            <a:ext cx="2560320" cy="2560320"/>
          </a:xfrm>
          <a:prstGeom prst="ellipse">
            <a:avLst/>
          </a:prstGeom>
          <a:solidFill>
            <a:srgbClr val="2ED2E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868680" cy="868680"/>
          </a:xfrm>
          <a:prstGeom prst="ellipse">
            <a:avLst/>
          </a:prstGeom>
          <a:solidFill>
            <a:srgbClr val="142542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7" y="16431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48132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FIRMGRID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1901952" y="22494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(working name — replace with your brand)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8869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Vietnam's idle solar into the </a:t>
            </a:r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firm, 24/7 clean power</a:t>
            </a:r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its digital economy is already desperate to buy.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VinFuture InnovaTech Challenge 2026</a:t>
            </a:r>
            <a:pPr indent="0" marL="0">
              <a:buNone/>
            </a:pPr>
            <a:r>
              <a:rPr lang="en-US" sz="140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Track 1: Renewable Energy &amp; Low-Carbon Mobility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curves are about to collide — around </a:t>
            </a:r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2027–2030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566928" cy="566928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29624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DEMAND — SOARING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68680" y="2743200"/>
          <a:ext cx="48006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52120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800" b="1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+110%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data-centre electricity demand, 2025→2030 (735 → 1,543 MW).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263640" y="187452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7960" y="2148840"/>
            <a:ext cx="566928" cy="566928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361" y="2296241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2376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 CLEAN SUPPLY — FLAT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53796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commercial nuclear reactors today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0241280" y="28803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537960" y="34472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Earliest nuclear (Ninh Thuận 1) online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0241280" y="344728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2030–35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37960" y="40142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outages at peak demand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0241280" y="4014216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537960" y="45811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investment needed by 2030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0241280" y="458114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$128bn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537960" y="52578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is real but a decade away; the grid is already straining today.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"Just build more" is the wrong answer — twice over.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86000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599" y="2442911"/>
            <a:ext cx="289682" cy="28968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5212080" y="2286000"/>
            <a:ext cx="566928" cy="5669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30632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solar broke the grid once already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32688" y="388620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2018–21 boom overwhelmed transmission: curtailment, weak dispatch, and a legacy of ~$13bn in investor disputes over retroactive tariff changes. Raw megawatts aren't the constraint.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45352" y="196596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7960" y="2286000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871" y="2442911"/>
            <a:ext cx="289682" cy="289682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817352" y="2286000"/>
            <a:ext cx="566928" cy="5669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37960" y="30632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is too slow and too big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537960" y="388620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operating commercial reactor; Ninh Thuận 1 targets 2030–35 with unresolved financing and waste-cycle questions. Sovereign-scale and a decade out — not a solution for the 2020s, and not a startup's game.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40080" y="5440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gap isn't generation. It's </a:t>
            </a:r>
            <a:pPr algn="ctr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firmness</a:t>
            </a:r>
            <a:pPr algn="ctr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firmness has quietly become a </a:t>
            </a:r>
            <a:pPr algn="ctr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pPr algn="ctr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has the solar. It doesn't have </a:t>
            </a:r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</a:t>
            </a:r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solar.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74920" cy="4480560"/>
          </a:xfrm>
          <a:prstGeom prst="roundRect">
            <a:avLst>
              <a:gd name="adj" fmla="val 1837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 GW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solar already installed in Vietnam — one of the fastest booms on Earth.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 data centre can't sign a 15-year PPA for electricity that only shows up when the sun is out. The gap between cheap daytime kWh and firm 24/7 MW is: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534924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· storage orchestration · dispatch optimisation · PPA structuring · hour-by-hour matching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1874520"/>
            <a:ext cx="5532120" cy="4480560"/>
          </a:xfrm>
          <a:prstGeom prst="roundRect">
            <a:avLst>
              <a:gd name="adj" fmla="val 1837"/>
            </a:avLst>
          </a:prstGeom>
          <a:solidFill>
            <a:srgbClr val="10203B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2194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layer is DIGITAL — and it's empty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834640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03720" y="2743200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now legal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2161 (Sept 2025) + the DPPA mechanism let generators sell green power directly to buyers.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00507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3913632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mandated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≥50% of national data-centre capacity supplied green by 2030.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175504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3720" y="5084064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nobody built the layer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software turns variable solar into a firm product the digital economy can actually contract for.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economy needs firm clean power — and </a:t>
            </a:r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a premium</a:t>
            </a:r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85216" cy="585216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556" y="2346716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centres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40156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Racks up to 60 kW, need 24/7 uptime — while the grid still fails at peak.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1688" y="192024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2194560"/>
            <a:ext cx="585216" cy="585216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164" y="2346716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 &amp; Thủ Thiêm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36008" y="340156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Financial-centre sandboxes and smart-city loads with clean-energy expectations.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92024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194560"/>
            <a:ext cx="585216" cy="585216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772" y="2346716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manufacturers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 &amp; buyer mandates push factories toward verifiable carbon-free supply.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5720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10203B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77240" y="4800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+110%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822960" y="5486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data-centre demand by 2030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3438144" y="45720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10203B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3575304" y="4800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≥50%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3621024" y="5486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must be green by 2030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236208" y="45720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10203B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373368" y="4800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</a:t>
            </a:r>
            <a:endParaRPr lang="en-US" sz="2600" dirty="0"/>
          </a:p>
        </p:txBody>
      </p:sp>
      <p:sp>
        <p:nvSpPr>
          <p:cNvPr id="27" name="Text 22"/>
          <p:cNvSpPr/>
          <p:nvPr/>
        </p:nvSpPr>
        <p:spPr>
          <a:xfrm>
            <a:off x="6419088" y="5486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 = one 100 MW data centre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9034272" y="457200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10203B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9171432" y="4800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</a:t>
            </a:r>
            <a:endParaRPr lang="en-US" sz="2600" dirty="0"/>
          </a:p>
        </p:txBody>
      </p:sp>
      <p:sp>
        <p:nvSpPr>
          <p:cNvPr id="30" name="Text 25"/>
          <p:cNvSpPr/>
          <p:nvPr/>
        </p:nvSpPr>
        <p:spPr>
          <a:xfrm>
            <a:off x="9217152" y="5486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data-localisation law forces domestic builds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FirmGrid: the firm-clean-power layer between solar and the digital economy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95628" y="3035808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539" y="3192719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657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solar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9136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rooftop · C&amp;I · utility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28346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10203B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4548" y="3035808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459" y="3192719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3657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engine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39136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· dispatch · match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28346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10203B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73468" y="3035808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379" y="3192719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3657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 24/7 blocks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0" y="39136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shaped · guaranteed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06840" y="28346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62388" y="3035808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299" y="3192719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6840" y="3657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Digital-economy buyers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006840" y="39136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DPPA contracts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154680" y="3392424"/>
            <a:ext cx="256032" cy="256032"/>
          </a:xfrm>
          <a:prstGeom prst="rtTriangle">
            <a:avLst/>
          </a:prstGeom>
          <a:solidFill>
            <a:srgbClr val="8BD34A"/>
          </a:solidFill>
          <a:ln/>
        </p:spPr>
      </p:sp>
      <p:sp>
        <p:nvSpPr>
          <p:cNvPr id="25" name="Shape 19"/>
          <p:cNvSpPr/>
          <p:nvPr/>
        </p:nvSpPr>
        <p:spPr>
          <a:xfrm>
            <a:off x="5943600" y="3392424"/>
            <a:ext cx="256032" cy="256032"/>
          </a:xfrm>
          <a:prstGeom prst="rtTriangle">
            <a:avLst/>
          </a:prstGeom>
          <a:solidFill>
            <a:srgbClr val="8BD34A"/>
          </a:solidFill>
          <a:ln/>
        </p:spPr>
      </p:sp>
      <p:sp>
        <p:nvSpPr>
          <p:cNvPr id="26" name="Shape 20"/>
          <p:cNvSpPr/>
          <p:nvPr/>
        </p:nvSpPr>
        <p:spPr>
          <a:xfrm>
            <a:off x="8732520" y="3392424"/>
            <a:ext cx="256032" cy="256032"/>
          </a:xfrm>
          <a:prstGeom prst="rtTriangle">
            <a:avLst/>
          </a:prstGeom>
          <a:solidFill>
            <a:srgbClr val="8BD34A"/>
          </a:solidFill>
          <a:ln/>
        </p:spPr>
      </p:sp>
      <p:sp>
        <p:nvSpPr>
          <p:cNvPr id="27" name="Shape 21"/>
          <p:cNvSpPr/>
          <p:nvPr/>
        </p:nvSpPr>
        <p:spPr>
          <a:xfrm>
            <a:off x="3429000" y="443484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611880" y="4617720"/>
            <a:ext cx="566928" cy="566928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281" y="4765121"/>
            <a:ext cx="272125" cy="27212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25196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storage fleet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251960" y="4892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as one virtual asset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681728" y="4206240"/>
            <a:ext cx="0" cy="228600"/>
          </a:xfrm>
          <a:prstGeom prst="line">
            <a:avLst/>
          </a:prstGeom>
          <a:noFill/>
          <a:ln w="12700">
            <a:solidFill>
              <a:srgbClr val="6E86A6"/>
            </a:solidFill>
            <a:prstDash val="dash"/>
          </a:ln>
        </p:spPr>
      </p:sp>
      <p:sp>
        <p:nvSpPr>
          <p:cNvPr id="33" name="Text 26"/>
          <p:cNvSpPr/>
          <p:nvPr/>
        </p:nvSpPr>
        <p:spPr>
          <a:xfrm>
            <a:off x="640080" y="57150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own no panels. </a:t>
            </a:r>
            <a:pPr algn="ctr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is the engine — probabilistic forecasting, storage dispatch, and 24/7 matching — plus the contract &amp; measurement layer that makes the block bankable.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PORTFOLIO · ONE COMPANY, FOUR PRODUCTS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wedge that grows into a platform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21992"/>
            <a:ext cx="566928" cy="566928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513" y="236939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219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A · WEDGE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00200" y="2478024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forecasting &amp; curtailment-reduction SaaS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313639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forecasting + dispatch for utility plants and EVN. Fast to MVP, AI-native, immediate revenue.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221992"/>
            <a:ext cx="566928" cy="566928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353" y="236939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2219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A · FLAGSHIP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178040" y="2478024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 Clean Power platform (VPP + 24/7 CFE + DPPA)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73952" y="313639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distributed solar + storage into firm blocks; sell to data centres via DPPA. The core company.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96112" y="4279392"/>
            <a:ext cx="566928" cy="566928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13" y="442679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2793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B · EXPAND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600200" y="4535424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Microgrid orchestration, Energy-as-a-Service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96112" y="519379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Behind-the-meter solar+storage + DR brain for data centres &amp; industrial parks. Capex sits with a financing partner.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17920" y="402336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73952" y="4279392"/>
            <a:ext cx="566928" cy="566928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353" y="4426793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78040" y="42793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B · EXPAND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178040" y="4535424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"Battery brain" — storage revenue-stacking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473952" y="519379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&amp; market participation for the coming BESS fleet: arbitrage + ancillary services as markets open.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the wedge → prove firmness on one pilot → become the platform every green PPA in Vietnam runs through.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DEFENSIBLE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is software + data, and it compounds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311" y="244291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32257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solar forecasting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weather + plant models producing hour-ahead to day-ahead confidence bands, not point forecasts.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20116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286000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151" y="244291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32257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dispatch optimisation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30175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for the cheapest firm block: when to charge, discharge, arbitrage, and hold reserve across the fleet.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343400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11" y="4500311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7997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CFE matching &amp; M&amp;V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50749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Hour-by-hour matching of clean supply to load, with auditable measurement buyers can put in a contract.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690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343400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151" y="450031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37997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flywheel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92240" y="50749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plant and site onboarded sharpens the forecasts — accuracy is the moat, and it grows with scale.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Capital-light: we sell intelligence, not iron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51760" cy="3291840"/>
          </a:xfrm>
          <a:prstGeom prst="roundRect">
            <a:avLst>
              <a:gd name="adj" fmla="val 3103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2240280"/>
            <a:ext cx="640080" cy="640080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2341" y="24067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SaaS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Per-plant subscription to generators &amp; EVN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revenue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38144" y="1965960"/>
            <a:ext cx="2651760" cy="3291840"/>
          </a:xfrm>
          <a:prstGeom prst="roundRect">
            <a:avLst>
              <a:gd name="adj" fmla="val 3103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43984" y="2240280"/>
            <a:ext cx="640080" cy="640080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405" y="24067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017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take-rate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21024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on firm-power volume contracted via DPPA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621024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revenue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36208" y="1965960"/>
            <a:ext cx="2651760" cy="3291840"/>
          </a:xfrm>
          <a:prstGeom prst="roundRect">
            <a:avLst>
              <a:gd name="adj" fmla="val 3103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42048" y="2240280"/>
            <a:ext cx="640080" cy="640080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469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3017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EaaS margin / mgmt fee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19088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fee on microgrid orchestration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19088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034272" y="1965960"/>
            <a:ext cx="2651760" cy="3291840"/>
          </a:xfrm>
          <a:prstGeom prst="roundRect">
            <a:avLst>
              <a:gd name="adj" fmla="val 3103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40112" y="2240280"/>
            <a:ext cx="640080" cy="640080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533" y="240670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17152" y="3017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optimisation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9217152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arbitrage &amp; ancillary-service upside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217152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40080" y="55778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generation capex on our balance sheet. </a:t>
            </a:r>
            <a:pPr algn="ctr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margins, a recurring take-rate on every firm MWh, and a model that replicates straight across ASEAN's identical problem.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MVP to market infrastructure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0–12 MONTHS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606040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311" y="2762951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32688" y="342900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forecasting + curtailment SaaS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2–3 utility-scale plants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accuracy uplift vs baseline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16552" y="201168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90872" y="2240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12–30 MONTHS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90872" y="2606040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783" y="2762951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2392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firm block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709160" y="342900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C&amp;I solar + batteries (VPP)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one DPPA to a data centre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contracted 24/7 clean block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93024" y="201168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467344" y="2240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MONTHS+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467344" y="2606040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255" y="2762951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98864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485632" y="342900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firm-power auctions &amp; EaaS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storage revenue-stacking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into ASEAN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NUCLEAR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compete with nuclear. We're the </a:t>
            </a:r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to it</a:t>
            </a:r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067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331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no-regrets bet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nuclear lands on schedule (2035):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we've already built the flexible, storage-rich, digitised grid it needs to plug into.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5262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E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nuclear slips (it usually does):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the reason the data centres stayed powered — and hit their green targets — in the meantime.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10203B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46520" y="22860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→ firm today.  Nuclear → firm baseload later.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92240" y="320040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crunch is 2027–2030. Nuclear is 2035+. Something has to carry the load between.</a:t>
            </a:r>
            <a:endParaRPr lang="en-US" sz="1350" dirty="0"/>
          </a:p>
          <a:p>
            <a:pPr marL="190500" indent="-1905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platform is technology-agnostic: it absorbs nuclear baseload the day it arrives.</a:t>
            </a:r>
            <a:endParaRPr lang="en-US" sz="1350" dirty="0"/>
          </a:p>
          <a:p>
            <a:pPr marL="190500" indent="-1905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the startup as national infrastructure, not a niche vendor — powerful with judges &amp; policymakers.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MAPS TO 30% OF THE SCORECARD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social &amp; environmental value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311" y="244291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32257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Decarbonises the digital boom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99923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cheap variable solar into the clean firm supply data centres are mandated to buy.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20116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286000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151" y="244291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32257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Relieves the grid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99923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curtailment and shifts load into solar hours — more value from MW already built.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343400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11" y="4500311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7997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Capital-efficient vs nuclear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505663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 renewables reach $54–82/MWh today; firming is software, not a $bn reactor.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690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343400"/>
            <a:ext cx="603504" cy="603504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151" y="450031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37997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Unlocks green FDI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92240" y="505663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hyperscalers &amp; exporters the verifiable clean power they require to invest in Vietnam.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RISKS · BUILT FOR THE Q&amp;A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go wrong — and our answer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987552"/>
          </a:xfrm>
          <a:prstGeom prst="roundRect">
            <a:avLst>
              <a:gd name="adj" fmla="val 8333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5856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07568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Ancillary-service &amp; firm-power markets are still immature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276856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0" y="207568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lead with the forecasting wedge (revenue today) and grow into firmness as market design matures — timing, not dependency.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0080" y="3054096"/>
            <a:ext cx="10881360" cy="987552"/>
          </a:xfrm>
          <a:prstGeom prst="roundRect">
            <a:avLst>
              <a:gd name="adj" fmla="val 8333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46704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163824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confidence dented by retroactive tariff changes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364992"/>
            <a:ext cx="347472" cy="347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83680" y="3163824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capital-light and buyer-funded (data centres pre-contract), so we're less exposed to generation-side tariff risk.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40080" y="4142232"/>
            <a:ext cx="10881360" cy="987552"/>
          </a:xfrm>
          <a:prstGeom prst="roundRect">
            <a:avLst>
              <a:gd name="adj" fmla="val 8333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34840"/>
            <a:ext cx="384048" cy="3840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17320" y="42519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EVN single-buyer legacy can slow deals</a:t>
            </a:r>
            <a:endParaRPr lang="en-US" sz="13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453128"/>
            <a:ext cx="347472" cy="34747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583680" y="42519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(Decision 2161) is the legal path around it; we design for private off-take first.</a:t>
            </a:r>
            <a:endParaRPr lang="en-US" sz="1250" dirty="0"/>
          </a:p>
        </p:txBody>
      </p:sp>
      <p:sp>
        <p:nvSpPr>
          <p:cNvPr id="19" name="Shape 11"/>
          <p:cNvSpPr/>
          <p:nvPr/>
        </p:nvSpPr>
        <p:spPr>
          <a:xfrm>
            <a:off x="640080" y="5230368"/>
            <a:ext cx="10881360" cy="987552"/>
          </a:xfrm>
          <a:prstGeom prst="roundRect">
            <a:avLst>
              <a:gd name="adj" fmla="val 8333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522976"/>
            <a:ext cx="384048" cy="38404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417320" y="534009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not just wait for nuclear?"</a:t>
            </a:r>
            <a:endParaRPr lang="en-US" sz="13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5541264"/>
            <a:ext cx="347472" cy="34747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583680" y="5340096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crunch is 2027–2030; nuclear is 2035+. Waiting means outages and missed green targets now.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software. That's exactly what we build.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1965960"/>
          </a:xfrm>
          <a:prstGeom prst="roundRect">
            <a:avLst>
              <a:gd name="adj" fmla="val 4186"/>
            </a:avLst>
          </a:prstGeom>
          <a:solidFill>
            <a:srgbClr val="142542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14600"/>
            <a:ext cx="914400" cy="914400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7523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286000"/>
            <a:ext cx="9052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AI-native team building the forecasting-and-optimisation engine at the core.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Incumbents build hardware; the firmness layer is a software-and-data problem, and that is our home turf. The moat isn't a panel or a battery — it's the model that turns them into a bankable 24/7 product, and it compounds with every site we onboard.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425196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10203B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645920" y="4526280"/>
            <a:ext cx="640080" cy="640080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1" y="469270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user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77240" y="5669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24/7 clean-power buyer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438144" y="425196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10203B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43984" y="4526280"/>
            <a:ext cx="640080" cy="640080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405" y="46927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75304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problem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575304" y="5669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Firmness gap, quantified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36208" y="425196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10203B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42048" y="4526280"/>
            <a:ext cx="640080" cy="640080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469" y="469270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3368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Tech-enabled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373368" y="5669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+ dispatch + match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034272" y="425196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10203B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040112" y="4526280"/>
            <a:ext cx="640080" cy="640080"/>
          </a:xfrm>
          <a:prstGeom prst="ellipse">
            <a:avLst/>
          </a:prstGeom>
          <a:solidFill>
            <a:srgbClr val="10203B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533" y="469270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71432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171432" y="5669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MVP first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754880"/>
            <a:ext cx="3840480" cy="3840480"/>
          </a:xfrm>
          <a:prstGeom prst="ellipse">
            <a:avLst/>
          </a:prstGeom>
          <a:solidFill>
            <a:srgbClr val="8BD34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2ED2E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822960" cy="822960"/>
          </a:xfrm>
          <a:prstGeom prst="ellipse">
            <a:avLst/>
          </a:prstGeom>
          <a:solidFill>
            <a:srgbClr val="142542"/>
          </a:solidFill>
          <a:ln w="9525">
            <a:solidFill>
              <a:srgbClr val="8BD34A">
                <a:alpha val="6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4484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29844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FIRMGRID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doesn't have a solar problem, or a nuclear problem.
</a:t>
            </a:r>
            <a:pPr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a firmness problem — and firmness is now software.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8BD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Vietnam's idle solar into the firm, 24/7 clean power its digital economy is already desperate to buy.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56235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9B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 a pilot partner (one data centre + one C&amp;I solar cluster) to deliver Vietnam's first contracted 24/7 clean-power block.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FirmGrid — Firm Clean Power for Vietnam's Digital Economy</dc:title>
  <dc:subject>PptxGenJS Presentation</dc:subject>
  <dc:creator>FirmGrid</dc:creator>
  <cp:lastModifiedBy>FirmGrid</cp:lastModifiedBy>
  <cp:revision>1</cp:revision>
  <dcterms:created xsi:type="dcterms:W3CDTF">2026-07-03T09:21:42Z</dcterms:created>
  <dcterms:modified xsi:type="dcterms:W3CDTF">2026-07-03T09:21:42Z</dcterms:modified>
</cp:coreProperties>
</file>