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(25s). Pause on the paradox: every sunny morning, EVN curtails rooftop solar because neighbourhood transformers can't absorb it. Every evening, the new electric motorbikes replacing Hanoi's petrol fleet charge on a majority-coal grid. Same city, same day, both directions of waste. FirmGrid closes both loops with one intelligence layer — and everything you'll see is running live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(45s). Three numbers: 19 GW of solar that gets curtailed; 450k motorbikes electrifying into the evening peak; data-centre demand doubling with a green mandate. And a fresh trigger — the surplus-sale cap was raised to 50% one week before this hackathon. More export pressure on the same transformers, no allocation mechanism. That's not a hardware gap, it's an intelligence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 CAUSE (30s). EVN isn't wrong to curtail — it's protecting equipment while blind. The fix isn't more copper, it's sight: forecast the headroom, allocate it surgically, and give the surplus somewhere useful to go. Everything needed already exists in silos. Connecting them is a software problem — and software ships in months, not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(45s). Tier 1 is running today: forecast, auction, steer, settle — inside Decree 58, Decree 57 and VND payment law. Tier 2 is the same engine pointed at a bigger buyer: aggregate orchestrated feeders into firm 24/7 blocks for data centres. And the nuclear framing: firm baseload arrives 2030-35 at the earliest. FirmGrid is the bridge — if nuclear lands we built the flexible grid it needs; if it slips we're why the digital economy stayed clean. No-regrets.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(35s). Walk the pipeline once: sense-forecast, bid, clear, settle — every 15 minutes. Two design choices to underline: bids are capped at physical reality so fraud is structurally impossible, and the auction never uses more than 90% of forecast headroom so forecast error can't cause a breach. The operator can always override — human-in-command.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(60s — switch to the app). Tab 1: same day twice. Baseline: transformer breaches at midday, feeder cut, 811 kWh wasted. FirmGrid ON: stations ramp into the sun, auction clears, zero breaches, 39 kWh wasted, 837k dong paid. Tab 2: invite a judge to drag the storm slider and inject the fraud bid. The point: this is not a dashboard — every number is a decision the system made and can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(40s). Bottom-up, not hand-waved: 30 homes × 5 kWp × 1,050 kWh/kWp × 15% curtailed × 70% recovered — that chain is on screen in the prototype with sliders. Hanoi scale: 15-19 GWh and ~10-13 kt CO₂ a year. Mobility adds 16-27 kt. And Tier 2 turns it into a product: 54% hour-matched CFE at $84/MWh — cheaper than the grid tariff a data centre pays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MOAT (35s). Pre-empt the three obvious objections. One: 'isn't this the Powerledger pilot?' — that's a ledger, it records trades after the fact; it can't tell you whether a trade is safe beforehand. Two: 'why not wait for storage?' — years and billions; we capture value from existing assets now and make storage more valuable when it lands. Three: 'is the AI real?' — held-out metrics on screen, assumptions declared, judges can change them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(30s). Staged and de-risked: shadow pilot first — no money moves until forecasts prove themselves on real telemetry. Then hardware-in-the-loop, then a sandbox with real settlement, then city scale and the first firm DPPA block. Each stage has a named success metric. And the floor: even with zero market reform, curtailment prediction alone is a product EVN can buy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(20s). Land the one-sentence pitch: a rooftop in Tay Ho charges a Grab driver's battery at noon, so the sunshine wasted this morning becomes the clean ride home tonight — and the same engine will sell firm clean power to the data centres being built under the localisation law. We're ready for questions — and the prototype is live if you'd like to try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34D399"/>
                </a:solidFill>
                <a:latin typeface="Avenir Next"/>
              </a:rPr>
              <a:t>⚡ FirmGrid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2E8F0"/>
                </a:solidFill>
                <a:latin typeface="Avenir Next"/>
              </a:rPr>
              <a:t>Vietnam throws away clean power at noon —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E2E8F0"/>
                </a:solidFill>
                <a:latin typeface="Avenir Next"/>
              </a:rPr>
              <a:t>and charges its clean vehicles on coal at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4A3B8"/>
                </a:solidFill>
                <a:latin typeface="Avenir Next"/>
              </a:rPr>
              <a:t>The intelligence layer that turns wasted rooftop solar into firm clean power.  </a:t>
            </a:r>
            <a:r>
              <a:rPr sz="1900" b="1">
                <a:solidFill>
                  <a:srgbClr val="34D399"/>
                </a:solidFill>
                <a:latin typeface="Avenir Next"/>
              </a:rPr>
              <a:t>Sun-to-Wheels today. Sun-to-Servers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Avenir Next"/>
              </a:rPr>
              <a:t>[TEAM_NAME]  ·  Asian Hackathon for Green Future 2026  ·  Track 1: Renewable Energy &amp; Low-Carbon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THE PROBLEM  · 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2026: two demand waves collide with a grid that wastes its own sunshine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BBF24"/>
                </a:solidFill>
                <a:latin typeface="Avenir Next"/>
              </a:rPr>
              <a:t>~19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solar built — but curtailed feeder-wide on sunny mornings; routine cuts reported through April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4D399"/>
                </a:solidFill>
                <a:latin typeface="Avenir Next"/>
              </a:rPr>
              <a:t>450,000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petrol motorbikes to replace under Hanoi's LEZ (live since 1 July 2026) — ~100 GWh/yr of new charging, defaulting to the coal evening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Avenir Next"/>
              </a:rPr>
              <a:t>2×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data-centre demand: 735 MW → 1,330–1,543 MW, mandated ≥50% green under the data-localisation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Generation peaks 10:00–14:00; demand peaks 18:00–22:00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— and coal still carries over half the evening load.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26 June 2026: the rooftop surplus-sale cap jumped 20% → 50.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The ceiling just doubled — and nobody has a fair, safe way to allocate it.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Households pay twice: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panels curtailed at noon, full tariff for coal power at night.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ROOT CAUSE  · 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Curtailment is blunt because it is blind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87171"/>
                </a:solidFill>
                <a:latin typeface="Avenir Next"/>
              </a:rPr>
              <a:t>TODAY — the blunt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Operator sees one number: reverse flow at the transformer.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No visibility into which household could keep exporting safely.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So the whole feeder is cut — 100% of export lost to protect the last 10%.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Households see nothing, earn nothing, and lose trust in solar.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4D399"/>
                </a:solidFill>
                <a:latin typeface="Avenir Next"/>
              </a:rPr>
              <a:t>THE MISSING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Predict per-transformer safe headroom 15 min – 24 h ahead.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Allocate it fairly, household by household, window by window.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Steer flexible mobility load INTO the surplus instead of the peak.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All the data exists — weather, meters, inverters — in disconnected silos.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THE SOLUTION  · 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34D399"/>
                </a:solidFill>
                <a:latin typeface="Avenir Next"/>
              </a:rPr>
              <a:t>One engine, two tiers — firmness as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TIER 1 · SUN-TO-WHEELS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Avenir Next"/>
              </a:rPr>
              <a:t>live in the prototype — legal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GridMind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forecasts safe headroom per transformer, per 15 minutes.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HeadRoom Auction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allocates it fairly — minimal, explainable curtailment.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FlexMatch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pays swap stations &amp; depots to charge in the 10:00–14:00 sun.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TrustLedger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verifies delivery, pays VND, seals a tamper-evident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Avenir Next"/>
              </a:rPr>
              <a:t>TIER 2 · SUN-TO-SERVERS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4A3B8"/>
                </a:solidFill>
                <a:latin typeface="Avenir Next"/>
              </a:rPr>
              <a:t>the same engine, aggregated — 2027+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937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Aggregate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hundreds of orchestrated feeders + storage into one portfolio.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Shape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firm, hour-matched 24/7 clean blocks — measured, auditable CFE.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Sell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via DPPA to data centres mandated ≥50% green by 2030.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350" b="1">
                <a:solidFill>
                  <a:srgbClr val="E2E8F0"/>
                </a:solidFill>
                <a:latin typeface="Avenir Next"/>
              </a:rPr>
              <a:t>Bridge </a:t>
            </a:r>
            <a:r>
              <a:rPr sz="1350" b="0">
                <a:solidFill>
                  <a:srgbClr val="E2E8F0"/>
                </a:solidFill>
                <a:latin typeface="Avenir Next"/>
              </a:rPr>
              <a:t>to nuclear-era firm baseload (2030–35): we win either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Avenir Next"/>
              </a:rPr>
              <a:t>EVN stays the single buyer. No new law required. We don't fight the system — we make it intelligent.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HOW IT WORKS  · 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One 15-minute market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9339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8BDF8"/>
                </a:solidFill>
                <a:latin typeface="Avenir Next"/>
              </a:rPr>
              <a:t>1 · SENSE +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23408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Avenir Next"/>
              </a:rPr>
              <a:t>Weather, meters, inverters → per-transformer headroom h(t) + per-home surplus, with confidence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92024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99339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2 · BID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395728"/>
            <a:ext cx="23408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Avenir Next"/>
              </a:rPr>
              <a:t>Auto-Sell agents bid each home's surplus — hard-capped at what is physically possible (Sentinel)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54096" y="2560320"/>
            <a:ext cx="292608" cy="25603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92024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99339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BBF24"/>
                </a:solidFill>
                <a:latin typeface="Avenir Next"/>
              </a:rPr>
              <a:t>3 · 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95728"/>
            <a:ext cx="23408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Avenir Next"/>
              </a:rPr>
              <a:t>MILP auction: accept ≤ 90% of forecast headroom; fairness credits bound every household's wait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70448" y="2560320"/>
            <a:ext cx="292608" cy="25603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7696" y="1920240"/>
            <a:ext cx="2487168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99339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4D399"/>
                </a:solidFill>
                <a:latin typeface="Avenir Next"/>
              </a:rPr>
              <a:t>4 ·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395728"/>
            <a:ext cx="23408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Avenir Next"/>
              </a:rPr>
              <a:t>Meter reconciliation → VND to e-wallets → hash-chained, publicly verifiable audit ledger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86800" y="2560320"/>
            <a:ext cx="292608" cy="256032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venir Next"/>
              </a:rPr>
              <a:t>MEANWHILE, ON THE DEMAND 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00" b="1">
                <a:solidFill>
                  <a:srgbClr val="E2E8F0"/>
                </a:solidFill>
                <a:latin typeface="Avenir Next"/>
              </a:rPr>
              <a:t>FlexMatch schedules swap stations &amp; e-taxi depots into the solar window </a:t>
            </a:r>
            <a:r>
              <a:rPr sz="1400" b="0">
                <a:solidFill>
                  <a:srgbClr val="E2E8F0"/>
                </a:solidFill>
                <a:latin typeface="Avenir Next"/>
              </a:rPr>
              <a:t>— absorption is the cheapest headroom there is, and evening swaps become verified solar kilometres (~1 kg CO₂ avoided per swap, printed on the rider's receipt).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00" b="1">
                <a:solidFill>
                  <a:srgbClr val="E2E8F0"/>
                </a:solidFill>
                <a:latin typeface="Avenir Next"/>
              </a:rPr>
              <a:t>Safety posture: </a:t>
            </a:r>
            <a:r>
              <a:rPr sz="1400" b="0">
                <a:solidFill>
                  <a:srgbClr val="E2E8F0"/>
                </a:solidFill>
                <a:latin typeface="Avenir Next"/>
              </a:rPr>
              <a:t>never allocate above 90% of forecast; human operator override outranks every automated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WORKING PROTOTYPE — LIVE  · 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The same sunny day, twice (digital twin of a Hanoi feeder)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3225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811 →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kWh of clean energy wasted: baseline vs FirmGrid ON (95% recovered)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38528"/>
            <a:ext cx="23225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8BDF8"/>
                </a:solidFill>
                <a:latin typeface="Avenir Next"/>
              </a:rPr>
              <a:t>19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transformer limit breaches on the demo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38528"/>
            <a:ext cx="23225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BBF24"/>
                </a:solidFill>
                <a:latin typeface="Avenir Next"/>
              </a:rPr>
              <a:t>837,000 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060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paid to households — for energy that is thrown away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82880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938528"/>
            <a:ext cx="232257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F1 = 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6060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congestion forecast skill on held-out days — measured, shown on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502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87171"/>
                </a:solidFill>
                <a:latin typeface="Avenir Next"/>
              </a:rPr>
              <a:t>JUDGES ARE INVITED TO BREAK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00" b="1">
                <a:solidFill>
                  <a:srgbClr val="E2E8F0"/>
                </a:solidFill>
                <a:latin typeface="Avenir Next"/>
              </a:rPr>
              <a:t>Drag a storm front </a:t>
            </a:r>
            <a:r>
              <a:rPr sz="1400" b="0">
                <a:solidFill>
                  <a:srgbClr val="E2E8F0"/>
                </a:solidFill>
                <a:latin typeface="Avenir Next"/>
              </a:rPr>
              <a:t>— wipe out 60% of the sun: forecasts and the auction re-clear in seconds, zero breaches, and the system never does worse than today's baseline.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00" b="1">
                <a:solidFill>
                  <a:srgbClr val="E2E8F0"/>
                </a:solidFill>
                <a:latin typeface="Avenir Next"/>
              </a:rPr>
              <a:t>Inject a fraudulent 15 kW bid </a:t>
            </a:r>
            <a:r>
              <a:rPr sz="1400" b="0">
                <a:solidFill>
                  <a:srgbClr val="E2E8F0"/>
                </a:solidFill>
                <a:latin typeface="Avenir Next"/>
              </a:rPr>
              <a:t>— Sentinel blocks it before the auction because it exceeds the home's physical maximum; the block is sealed in the audit ledger.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00" b="1">
                <a:solidFill>
                  <a:srgbClr val="E2E8F0"/>
                </a:solidFill>
                <a:latin typeface="Avenir Next"/>
              </a:rPr>
              <a:t>Move any assumption </a:t>
            </a:r>
            <a:r>
              <a:rPr sz="1400" b="0">
                <a:solidFill>
                  <a:srgbClr val="E2E8F0"/>
                </a:solidFill>
                <a:latin typeface="Avenir Next"/>
              </a:rPr>
              <a:t>— every impact number recomputes live. No hidden constants.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IMPACT  · 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The arithmetic is on the table — every assumption adjustable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4D399"/>
                </a:solidFill>
                <a:latin typeface="Avenir Next"/>
              </a:rPr>
              <a:t>15–19 GWh/yr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recovered by a 1,000-transformer Hanoi rollout ≈ 10,000–13,000 t CO₂/yr (grid factor 0.681 — official 2024 value)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8BDF8"/>
                </a:solidFill>
                <a:latin typeface="Avenir Next"/>
              </a:rPr>
              <a:t>+16–27 kt CO₂/yr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from steering 20–30% of the LEZ's ~100 GWh/yr charging wave into the solar window — ≈1 kg per swap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93592" cy="17373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2644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BBF24"/>
                </a:solidFill>
                <a:latin typeface="Avenir Next"/>
              </a:rPr>
              <a:t>54% CFE · $84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97480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hour-matched clean coverage and $/MWh for a 20 MW data-centre block (vs $92 grid) — Tier 2, computed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1">
                <a:solidFill>
                  <a:srgbClr val="E2E8F0"/>
                </a:solidFill>
                <a:latin typeface="Avenir Next"/>
              </a:rPr>
              <a:t>Households: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0.6–1.0 million ₫/yr per 5 kWp — from energy discarded today; restored payback keeps the rooftop flywheel spinning.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1">
                <a:solidFill>
                  <a:srgbClr val="E2E8F0"/>
                </a:solidFill>
                <a:latin typeface="Avenir Next"/>
              </a:rPr>
              <a:t>Stations: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27–44 million ₫/yr saved each — real margin in a thin-margin business, aligned with the grid's needs.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1">
                <a:solidFill>
                  <a:srgbClr val="E2E8F0"/>
                </a:solidFill>
                <a:latin typeface="Avenir Next"/>
              </a:rPr>
              <a:t>EVN: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transformer reinforcement deferred — hundreds of millions of ₫ per site; a demand-side lever it has never had.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450" b="1">
                <a:solidFill>
                  <a:srgbClr val="E2E8F0"/>
                </a:solidFill>
                <a:latin typeface="Avenir Next"/>
              </a:rPr>
              <a:t>National scenario (20,000 transformers by 2030): </a:t>
            </a:r>
            <a:r>
              <a:rPr sz="1450" b="0">
                <a:solidFill>
                  <a:srgbClr val="E2E8F0"/>
                </a:solidFill>
                <a:latin typeface="Avenir Next"/>
              </a:rPr>
              <a:t>300–380 GWh/yr ≈ 200,000–260,000 t CO₂/yr — before PDP8 doubles the solar fleet.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WHY THIS WINS  · 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Regulation-native, fairness-bounded, and compounding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Ships without new law: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households sell under Decree 58/2025 (EVN sole buyer), stations join as DPPA large consumers (57/2025), settlement is VND-only (52/2024). Powerledger-style P2P pilots record trades; none of them predict congestion — the hard part is the part we built.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Not 'just build batteries':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PDP8's 10–16 GW of storage takes years and billions; FirmGrid monetises the meters and rooftops already installed, this year — and makes every future battery more valuable. Complementary, not competing.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Fairness as physics: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a rejection-credit bound guarantees no household is persistently excluded — the property that makes a public utility able to say yes.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The data flywheel: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every onboarded feeder improves the forecasts; better forecasts unlock more headroom; more headroom attracts more feeders. Tier 1's flywheel is Tier 2's product.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Honest AI: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metrics on held-out days, on screen; synthetic twin with declared assumptions and a transfer-learning path to real telemetry. Judges can inspect everything.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ROADMAP  · 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Avenir Next"/>
              </a:rPr>
              <a:t>From this laptop to ASEAN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121408" cy="31089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1901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venir Next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06040"/>
            <a:ext cx="1901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Avenir Next"/>
              </a:rPr>
              <a:t>Shadow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91840"/>
            <a:ext cx="1901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Read-only on one EVNHANOI feeder; forecast skill vs real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11680"/>
            <a:ext cx="2121408" cy="31089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194560"/>
            <a:ext cx="1901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Q4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06040"/>
            <a:ext cx="1901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Avenir Next"/>
              </a:rPr>
              <a:t>Hardware-in-loop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291840"/>
            <a:ext cx="1901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20 volunteer homes via inverter APIs; one station honours schedules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011680"/>
            <a:ext cx="2121408" cy="31089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194560"/>
            <a:ext cx="1901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Avenir Next"/>
              </a:rPr>
              <a:t>H1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606040"/>
            <a:ext cx="1901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Avenir Next"/>
              </a:rPr>
              <a:t>Sandbox, real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291840"/>
            <a:ext cx="1901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200 households + 10 stations, EVN as settlement counterparty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011680"/>
            <a:ext cx="2121408" cy="31089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194560"/>
            <a:ext cx="1901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H2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606040"/>
            <a:ext cx="1901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Avenir Next"/>
              </a:rPr>
              <a:t>City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3291840"/>
            <a:ext cx="1901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1,000 constrained transformers + first firm-block DPPA with a data centre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011680"/>
            <a:ext cx="2121408" cy="310896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2194560"/>
            <a:ext cx="1901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venir Next"/>
              </a:rPr>
              <a:t>2028+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606040"/>
            <a:ext cx="1901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Avenir Next"/>
              </a:rPr>
              <a:t>Second city → ASEAN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291840"/>
            <a:ext cx="1901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Da Nang / HCMC; Thailand, Indonesia, Philippines — config, not re-architecture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BBF24"/>
                </a:solidFill>
                <a:latin typeface="Avenir Next"/>
              </a:rPr>
              <a:t>De-risked by design: if market regulation lags, predictive minimal curtailment alone is a pure operations tool EVN can adopt unilaterally — revenue while we wait.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2E8F0"/>
                </a:solidFill>
                <a:latin typeface="Avenir Next"/>
              </a:rPr>
              <a:t>Vietnam has the panels, the swap stations,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E2E8F0"/>
                </a:solidFill>
                <a:latin typeface="Avenir Next"/>
              </a:rPr>
              <a:t>the data — and, as of this month, the policy moment.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E2E8F0"/>
                </a:solidFill>
                <a:latin typeface="Avenir Next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34D399"/>
                </a:solidFill>
                <a:latin typeface="Avenir Next"/>
              </a:rPr>
              <a:t>What's missing is the intelligence layer that connects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Avenir Next"/>
              </a:rPr>
              <a:t>FirmGrid is that layer: every safely exportable ray of morning sunshine becomes a fair payment to a household, a clean kilometre for a rider — and, at scale, firm 24/7 power for the digital economy.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⚡ FirmGrid  ·  [TEAM_NAME]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Avenir Next"/>
              </a:rPr>
              <a:t>[Member 1] · [Member 2] · [Member 3] · [Member 4]   —   demo: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